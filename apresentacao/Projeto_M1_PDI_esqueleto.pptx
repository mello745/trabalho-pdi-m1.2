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UNIVALI · Ciência da Computação · Processamento de Imagens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07040" y="65288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M1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749808"/>
            <a:ext cx="10972800" cy="532180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90688" y="1115568"/>
            <a:ext cx="3227832" cy="3566160"/>
          </a:xfrm>
          <a:prstGeom prst="roundRect">
            <a:avLst>
              <a:gd name="adj" fmla="val 339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1554480"/>
            <a:ext cx="347472" cy="347472"/>
          </a:xfrm>
          <a:prstGeom prst="roundRect">
            <a:avLst>
              <a:gd name="adj" fmla="val 7895"/>
            </a:avLst>
          </a:prstGeom>
          <a:solidFill>
            <a:srgbClr val="E0FFFF"/>
          </a:solidFill>
          <a:ln w="12700">
            <a:solidFill>
              <a:srgbClr val="E0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68512" y="1554480"/>
            <a:ext cx="347472" cy="347472"/>
          </a:xfrm>
          <a:prstGeom prst="roundRect">
            <a:avLst>
              <a:gd name="adj" fmla="val 7895"/>
            </a:avLst>
          </a:prstGeom>
          <a:solidFill>
            <a:srgbClr val="D1FFFF"/>
          </a:solidFill>
          <a:ln w="12700">
            <a:solidFill>
              <a:srgbClr val="D1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07424" y="1554480"/>
            <a:ext cx="347472" cy="347472"/>
          </a:xfrm>
          <a:prstGeom prst="roundRect">
            <a:avLst>
              <a:gd name="adj" fmla="val 7895"/>
            </a:avLst>
          </a:prstGeom>
          <a:solidFill>
            <a:srgbClr val="BEFFFF"/>
          </a:solidFill>
          <a:ln w="12700">
            <a:solidFill>
              <a:srgbClr val="BE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46336" y="1554480"/>
            <a:ext cx="347472" cy="347472"/>
          </a:xfrm>
          <a:prstGeom prst="roundRect">
            <a:avLst>
              <a:gd name="adj" fmla="val 7895"/>
            </a:avLst>
          </a:prstGeom>
          <a:solidFill>
            <a:srgbClr val="D1FFFF"/>
          </a:solidFill>
          <a:ln w="12700">
            <a:solidFill>
              <a:srgbClr val="D1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5248" y="1554480"/>
            <a:ext cx="347472" cy="347472"/>
          </a:xfrm>
          <a:prstGeom prst="roundRect">
            <a:avLst>
              <a:gd name="adj" fmla="val 7895"/>
            </a:avLst>
          </a:prstGeom>
          <a:solidFill>
            <a:srgbClr val="E0FFFF"/>
          </a:solidFill>
          <a:ln w="12700">
            <a:solidFill>
              <a:srgbClr val="E0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1993392"/>
            <a:ext cx="347472" cy="347472"/>
          </a:xfrm>
          <a:prstGeom prst="roundRect">
            <a:avLst>
              <a:gd name="adj" fmla="val 7895"/>
            </a:avLst>
          </a:prstGeom>
          <a:solidFill>
            <a:srgbClr val="D1FFFF"/>
          </a:solidFill>
          <a:ln w="12700">
            <a:solidFill>
              <a:srgbClr val="D1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993392"/>
            <a:ext cx="347472" cy="347472"/>
          </a:xfrm>
          <a:prstGeom prst="roundRect">
            <a:avLst>
              <a:gd name="adj" fmla="val 7895"/>
            </a:avLst>
          </a:prstGeom>
          <a:solidFill>
            <a:srgbClr val="B4FFFF"/>
          </a:solidFill>
          <a:ln w="12700">
            <a:solidFill>
              <a:srgbClr val="B4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07424" y="1993392"/>
            <a:ext cx="347472" cy="347472"/>
          </a:xfrm>
          <a:prstGeom prst="roundRect">
            <a:avLst>
              <a:gd name="adj" fmla="val 7895"/>
            </a:avLst>
          </a:prstGeom>
          <a:solidFill>
            <a:srgbClr val="9EFFFF"/>
          </a:solidFill>
          <a:ln w="12700">
            <a:solidFill>
              <a:srgbClr val="9E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46336" y="1993392"/>
            <a:ext cx="347472" cy="347472"/>
          </a:xfrm>
          <a:prstGeom prst="roundRect">
            <a:avLst>
              <a:gd name="adj" fmla="val 7895"/>
            </a:avLst>
          </a:prstGeom>
          <a:solidFill>
            <a:srgbClr val="B4FFFF"/>
          </a:solidFill>
          <a:ln w="12700">
            <a:solidFill>
              <a:srgbClr val="B4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85248" y="1993392"/>
            <a:ext cx="347472" cy="347472"/>
          </a:xfrm>
          <a:prstGeom prst="roundRect">
            <a:avLst>
              <a:gd name="adj" fmla="val 7895"/>
            </a:avLst>
          </a:prstGeom>
          <a:solidFill>
            <a:srgbClr val="D1FFFF"/>
          </a:solidFill>
          <a:ln w="12700">
            <a:solidFill>
              <a:srgbClr val="D1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432304"/>
            <a:ext cx="347472" cy="347472"/>
          </a:xfrm>
          <a:prstGeom prst="roundRect">
            <a:avLst>
              <a:gd name="adj" fmla="val 7895"/>
            </a:avLst>
          </a:prstGeom>
          <a:solidFill>
            <a:srgbClr val="BEFFFF"/>
          </a:solidFill>
          <a:ln w="12700">
            <a:solidFill>
              <a:srgbClr val="BE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68512" y="2432304"/>
            <a:ext cx="347472" cy="347472"/>
          </a:xfrm>
          <a:prstGeom prst="roundRect">
            <a:avLst>
              <a:gd name="adj" fmla="val 7895"/>
            </a:avLst>
          </a:prstGeom>
          <a:solidFill>
            <a:srgbClr val="9EFFFF"/>
          </a:solidFill>
          <a:ln w="12700">
            <a:solidFill>
              <a:srgbClr val="9E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07424" y="2432304"/>
            <a:ext cx="347472" cy="347472"/>
          </a:xfrm>
          <a:prstGeom prst="roundRect">
            <a:avLst>
              <a:gd name="adj" fmla="val 7895"/>
            </a:avLst>
          </a:prstGeom>
          <a:solidFill>
            <a:srgbClr val="9EFFFF"/>
          </a:solidFill>
          <a:ln w="12700">
            <a:solidFill>
              <a:srgbClr val="9E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46336" y="2432304"/>
            <a:ext cx="347472" cy="347472"/>
          </a:xfrm>
          <a:prstGeom prst="roundRect">
            <a:avLst>
              <a:gd name="adj" fmla="val 7895"/>
            </a:avLst>
          </a:prstGeom>
          <a:solidFill>
            <a:srgbClr val="9EFFFF"/>
          </a:solidFill>
          <a:ln w="12700">
            <a:solidFill>
              <a:srgbClr val="9E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85248" y="2432304"/>
            <a:ext cx="347472" cy="347472"/>
          </a:xfrm>
          <a:prstGeom prst="roundRect">
            <a:avLst>
              <a:gd name="adj" fmla="val 7895"/>
            </a:avLst>
          </a:prstGeom>
          <a:solidFill>
            <a:srgbClr val="BEFFFF"/>
          </a:solidFill>
          <a:ln w="12700">
            <a:solidFill>
              <a:srgbClr val="BE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871216"/>
            <a:ext cx="347472" cy="347472"/>
          </a:xfrm>
          <a:prstGeom prst="roundRect">
            <a:avLst>
              <a:gd name="adj" fmla="val 7895"/>
            </a:avLst>
          </a:prstGeom>
          <a:solidFill>
            <a:srgbClr val="D1FFFF"/>
          </a:solidFill>
          <a:ln w="12700">
            <a:solidFill>
              <a:srgbClr val="D1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68512" y="2871216"/>
            <a:ext cx="347472" cy="347472"/>
          </a:xfrm>
          <a:prstGeom prst="roundRect">
            <a:avLst>
              <a:gd name="adj" fmla="val 7895"/>
            </a:avLst>
          </a:prstGeom>
          <a:solidFill>
            <a:srgbClr val="B4FFFF"/>
          </a:solidFill>
          <a:ln w="12700">
            <a:solidFill>
              <a:srgbClr val="B4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07424" y="2871216"/>
            <a:ext cx="347472" cy="347472"/>
          </a:xfrm>
          <a:prstGeom prst="roundRect">
            <a:avLst>
              <a:gd name="adj" fmla="val 7895"/>
            </a:avLst>
          </a:prstGeom>
          <a:solidFill>
            <a:srgbClr val="9EFFFF"/>
          </a:solidFill>
          <a:ln w="12700">
            <a:solidFill>
              <a:srgbClr val="9E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46336" y="2871216"/>
            <a:ext cx="347472" cy="347472"/>
          </a:xfrm>
          <a:prstGeom prst="roundRect">
            <a:avLst>
              <a:gd name="adj" fmla="val 7895"/>
            </a:avLst>
          </a:prstGeom>
          <a:solidFill>
            <a:srgbClr val="B4FFFF"/>
          </a:solidFill>
          <a:ln w="12700">
            <a:solidFill>
              <a:srgbClr val="B4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85248" y="2871216"/>
            <a:ext cx="347472" cy="347472"/>
          </a:xfrm>
          <a:prstGeom prst="roundRect">
            <a:avLst>
              <a:gd name="adj" fmla="val 7895"/>
            </a:avLst>
          </a:prstGeom>
          <a:solidFill>
            <a:srgbClr val="D1FFFF"/>
          </a:solidFill>
          <a:ln w="12700">
            <a:solidFill>
              <a:srgbClr val="D1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3310128"/>
            <a:ext cx="347472" cy="347472"/>
          </a:xfrm>
          <a:prstGeom prst="roundRect">
            <a:avLst>
              <a:gd name="adj" fmla="val 7895"/>
            </a:avLst>
          </a:prstGeom>
          <a:solidFill>
            <a:srgbClr val="E0FFFF"/>
          </a:solidFill>
          <a:ln w="12700">
            <a:solidFill>
              <a:srgbClr val="E0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68512" y="3310128"/>
            <a:ext cx="347472" cy="347472"/>
          </a:xfrm>
          <a:prstGeom prst="roundRect">
            <a:avLst>
              <a:gd name="adj" fmla="val 7895"/>
            </a:avLst>
          </a:prstGeom>
          <a:solidFill>
            <a:srgbClr val="D1FFFF"/>
          </a:solidFill>
          <a:ln w="12700">
            <a:solidFill>
              <a:srgbClr val="D1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07424" y="3310128"/>
            <a:ext cx="347472" cy="347472"/>
          </a:xfrm>
          <a:prstGeom prst="roundRect">
            <a:avLst>
              <a:gd name="adj" fmla="val 7895"/>
            </a:avLst>
          </a:prstGeom>
          <a:solidFill>
            <a:srgbClr val="BEFFFF"/>
          </a:solidFill>
          <a:ln w="12700">
            <a:solidFill>
              <a:srgbClr val="BE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46336" y="3310128"/>
            <a:ext cx="347472" cy="347472"/>
          </a:xfrm>
          <a:prstGeom prst="roundRect">
            <a:avLst>
              <a:gd name="adj" fmla="val 7895"/>
            </a:avLst>
          </a:prstGeom>
          <a:solidFill>
            <a:srgbClr val="D1FFFF"/>
          </a:solidFill>
          <a:ln w="12700">
            <a:solidFill>
              <a:srgbClr val="D1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85248" y="3310128"/>
            <a:ext cx="347472" cy="347472"/>
          </a:xfrm>
          <a:prstGeom prst="roundRect">
            <a:avLst>
              <a:gd name="adj" fmla="val 7895"/>
            </a:avLst>
          </a:prstGeom>
          <a:solidFill>
            <a:srgbClr val="E0FFFF"/>
          </a:solidFill>
          <a:ln w="12700">
            <a:solidFill>
              <a:srgbClr val="E0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005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PDI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8065008" y="4443984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6E6"/>
                </a:solidFill>
              </a:rPr>
              <a:t>ruído → suavização → aguçamento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60120" y="1234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1E6F78"/>
                </a:solidFill>
              </a:rPr>
              <a:t>PROJETO M1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60120" y="1572768"/>
            <a:ext cx="6217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324D"/>
                </a:solidFill>
              </a:rPr>
              <a:t>Operações Pontuais e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17324D"/>
                </a:solidFill>
              </a:rPr>
              <a:t>Filtragem Espacial</a:t>
            </a:r>
            <a:endParaRPr lang="en-US" sz="3300" dirty="0"/>
          </a:p>
        </p:txBody>
      </p:sp>
      <p:sp>
        <p:nvSpPr>
          <p:cNvPr id="33" name="Text 31"/>
          <p:cNvSpPr/>
          <p:nvPr/>
        </p:nvSpPr>
        <p:spPr>
          <a:xfrm>
            <a:off x="987552" y="29992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6F78"/>
                </a:solidFill>
              </a:rPr>
              <a:t>Melhoria de imagens dermatoscópicas do ISIC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87552" y="385876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Gustavo Corrêa de Mello · Heloisa Born · João Paulo Jorge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87552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Professor Felipe Viel · 2026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87552" y="486460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0704" y="4910328"/>
            <a:ext cx="9966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10–15 min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67712" y="4864608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316DA4"/>
          </a:solidFill>
          <a:ln w="12700">
            <a:solidFill>
              <a:srgbClr val="316D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40864" y="4910328"/>
            <a:ext cx="10424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 imagens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11880" y="486460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7257A7"/>
          </a:solidFill>
          <a:ln w="12700">
            <a:solidFill>
              <a:srgbClr val="7257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85032" y="4910328"/>
            <a:ext cx="1362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 configurações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e conjunto de imagens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Três melanomas do tronco posterior, escolhidos por desafios de qualidade diferentes.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01568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664208"/>
            <a:ext cx="2999232" cy="1005840"/>
          </a:xfrm>
          <a:prstGeom prst="roundRect">
            <a:avLst>
              <a:gd name="adj" fmla="val 545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1810512"/>
            <a:ext cx="914400" cy="685800"/>
          </a:xfrm>
          <a:prstGeom prst="ellipse">
            <a:avLst/>
          </a:prstGeom>
          <a:solidFill>
            <a:srgbClr val="316DA4">
              <a:alpha val="88000"/>
            </a:srgbClr>
          </a:solidFill>
          <a:ln w="12700">
            <a:solidFill>
              <a:srgbClr val="316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07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ISIC_0014049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316DA4"/>
                </a:solidFill>
              </a:rPr>
              <a:t>Contraste muito baixo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005840" y="3730752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Faixa de intensidade pequena; caso forte para operação pontual.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453128" y="1417320"/>
            <a:ext cx="3401568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54296" y="1664208"/>
            <a:ext cx="2999232" cy="1005840"/>
          </a:xfrm>
          <a:prstGeom prst="roundRect">
            <a:avLst>
              <a:gd name="adj" fmla="val 5455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7568" y="1810512"/>
            <a:ext cx="914400" cy="685800"/>
          </a:xfrm>
          <a:prstGeom prst="ellipse">
            <a:avLst/>
          </a:prstGeom>
          <a:solidFill>
            <a:srgbClr val="EAA43A">
              <a:alpha val="88000"/>
            </a:srgbClr>
          </a:solidFill>
          <a:ln w="12700">
            <a:solidFill>
              <a:srgbClr val="EAA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907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ISIC_7236365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81728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EAA43A"/>
                </a:solidFill>
              </a:rPr>
              <a:t>Pelos densos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773168" y="3730752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Textura estrutural elevada; pode ser realçada em excesso.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220456" y="1417320"/>
            <a:ext cx="3401568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21624" y="1664208"/>
            <a:ext cx="2999232" cy="1005840"/>
          </a:xfrm>
          <a:prstGeom prst="roundRect">
            <a:avLst>
              <a:gd name="adj" fmla="val 5455"/>
            </a:avLst>
          </a:prstGeom>
          <a:solidFill>
            <a:srgbClr val="F0ECF8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54896" y="1810512"/>
            <a:ext cx="914400" cy="685800"/>
          </a:xfrm>
          <a:prstGeom prst="ellipse">
            <a:avLst/>
          </a:prstGeom>
          <a:solidFill>
            <a:srgbClr val="7257A7">
              <a:alpha val="88000"/>
            </a:srgbClr>
          </a:solidFill>
          <a:ln w="12700">
            <a:solidFill>
              <a:srgbClr val="7257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9056" y="2907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ISIC_0021531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49056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7257A7"/>
                </a:solidFill>
              </a:rPr>
              <a:t>Bordas difusas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540496" y="3730752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Imagem entre as menos nítidas; bom caso para aguçamento.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85800" y="5010912"/>
            <a:ext cx="11045952" cy="960120"/>
          </a:xfrm>
          <a:prstGeom prst="roundRect">
            <a:avLst>
              <a:gd name="adj" fmla="val 7619"/>
            </a:avLst>
          </a:prstGeom>
          <a:solidFill>
            <a:srgbClr val="D9EEEC"/>
          </a:solidFill>
          <a:ln w="12700">
            <a:solidFill>
              <a:srgbClr val="D9EE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5010912"/>
            <a:ext cx="73152" cy="960120"/>
          </a:xfrm>
          <a:prstGeom prst="rect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5175504"/>
            <a:ext cx="10643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Objetivo do experimento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86968" y="5541264"/>
            <a:ext cx="1064361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Encontrar o melhor compromisso entre melhoria de contraste, redução de ruído e preservação/realce de detalhes — sem introduzir artefatos que prejudiquem a interpretação.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do trabalho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Cada etapa é implementada pelo grupo; as duas configurações serão comparadas visual e quantitativamente.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536192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" y="2103120"/>
            <a:ext cx="493776" cy="493776"/>
          </a:xfrm>
          <a:prstGeom prst="ellipse">
            <a:avLst/>
          </a:prstGeom>
          <a:solidFill>
            <a:srgbClr val="316DA4"/>
          </a:solidFill>
          <a:ln w="12700">
            <a:solidFill>
              <a:srgbClr val="316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221284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" y="27249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Imagem original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" y="318211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16DA4"/>
                </a:solidFill>
              </a:rPr>
              <a:t>Gustavo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03704" y="2724912"/>
            <a:ext cx="210312" cy="0"/>
          </a:xfrm>
          <a:prstGeom prst="line">
            <a:avLst/>
          </a:prstGeom>
          <a:noFill/>
          <a:ln w="25400">
            <a:solidFill>
              <a:srgbClr val="AAB4B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41448" y="1920240"/>
            <a:ext cx="1536192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62656" y="2103120"/>
            <a:ext cx="493776" cy="493776"/>
          </a:xfrm>
          <a:prstGeom prst="ellipse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2656" y="221284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96896" y="27249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Ruído controlado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96896" y="318211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6F78"/>
                </a:solidFill>
              </a:rPr>
              <a:t>Heloisa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05072" y="2724912"/>
            <a:ext cx="210312" cy="0"/>
          </a:xfrm>
          <a:prstGeom prst="line">
            <a:avLst/>
          </a:prstGeom>
          <a:noFill/>
          <a:ln w="25400">
            <a:solidFill>
              <a:srgbClr val="AAB4B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42816" y="1920240"/>
            <a:ext cx="1536192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4024" y="2103120"/>
            <a:ext cx="493776" cy="493776"/>
          </a:xfrm>
          <a:prstGeom prst="ellipse">
            <a:avLst/>
          </a:prstGeom>
          <a:solidFill>
            <a:srgbClr val="316DA4"/>
          </a:solidFill>
          <a:ln w="12700">
            <a:solidFill>
              <a:srgbClr val="316D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221284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98264" y="27249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Operação pontual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98264" y="318211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16DA4"/>
                </a:solidFill>
              </a:rPr>
              <a:t>Gustavo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06440" y="2724912"/>
            <a:ext cx="210312" cy="0"/>
          </a:xfrm>
          <a:prstGeom prst="line">
            <a:avLst/>
          </a:prstGeom>
          <a:noFill/>
          <a:ln w="25400">
            <a:solidFill>
              <a:srgbClr val="AAB4B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44184" y="1920240"/>
            <a:ext cx="1536192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5392" y="2103120"/>
            <a:ext cx="493776" cy="493776"/>
          </a:xfrm>
          <a:prstGeom prst="ellipse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221284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99632" y="27249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Suavização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99632" y="318211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6F78"/>
                </a:solidFill>
              </a:rPr>
              <a:t>Heloisa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07808" y="2724912"/>
            <a:ext cx="210312" cy="0"/>
          </a:xfrm>
          <a:prstGeom prst="line">
            <a:avLst/>
          </a:prstGeom>
          <a:noFill/>
          <a:ln w="25400">
            <a:solidFill>
              <a:srgbClr val="AAB4BE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45552" y="1920240"/>
            <a:ext cx="1536192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6760" y="2103120"/>
            <a:ext cx="493776" cy="493776"/>
          </a:xfrm>
          <a:prstGeom prst="ellipse">
            <a:avLst/>
          </a:prstGeom>
          <a:solidFill>
            <a:srgbClr val="7257A7"/>
          </a:solidFill>
          <a:ln w="12700">
            <a:solidFill>
              <a:srgbClr val="725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221284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01000" y="27249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Aguçamento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001000" y="318211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257A7"/>
                </a:solidFill>
              </a:rPr>
              <a:t>João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409176" y="2724912"/>
            <a:ext cx="210312" cy="0"/>
          </a:xfrm>
          <a:prstGeom prst="line">
            <a:avLst/>
          </a:prstGeom>
          <a:noFill/>
          <a:ln w="25400">
            <a:solidFill>
              <a:srgbClr val="AAB4BE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46920" y="1920240"/>
            <a:ext cx="1536192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68128" y="2103120"/>
            <a:ext cx="493776" cy="493776"/>
          </a:xfrm>
          <a:prstGeom prst="ellipse">
            <a:avLst/>
          </a:prstGeom>
          <a:solidFill>
            <a:srgbClr val="7257A7"/>
          </a:solidFill>
          <a:ln w="12700">
            <a:solidFill>
              <a:srgbClr val="7257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68128" y="221284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802368" y="27249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PSNR + SSIM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802368" y="318211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257A7"/>
                </a:solidFill>
              </a:rPr>
              <a:t>João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32688" y="4187952"/>
            <a:ext cx="5029200" cy="1024128"/>
          </a:xfrm>
          <a:prstGeom prst="roundRect">
            <a:avLst>
              <a:gd name="adj" fmla="val 714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2688" y="4187952"/>
            <a:ext cx="73152" cy="1024128"/>
          </a:xfrm>
          <a:prstGeom prst="rect">
            <a:avLst/>
          </a:prstGeom>
          <a:solidFill>
            <a:srgbClr val="3B8065"/>
          </a:solidFill>
          <a:ln w="12700">
            <a:solidFill>
              <a:srgbClr val="3B806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33856" y="4352544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Configuração 1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1133856" y="4718304"/>
            <a:ext cx="462686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Ruído → operação pontual → Gaussiano → High-Boost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36208" y="4187952"/>
            <a:ext cx="5029200" cy="1024128"/>
          </a:xfrm>
          <a:prstGeom prst="roundRect">
            <a:avLst>
              <a:gd name="adj" fmla="val 7143"/>
            </a:avLst>
          </a:prstGeom>
          <a:solidFill>
            <a:srgbClr val="F0ECF8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36208" y="4187952"/>
            <a:ext cx="73152" cy="1024128"/>
          </a:xfrm>
          <a:prstGeom prst="rect">
            <a:avLst/>
          </a:prstGeom>
          <a:solidFill>
            <a:srgbClr val="7257A7"/>
          </a:solidFill>
          <a:ln w="12700">
            <a:solidFill>
              <a:srgbClr val="7257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37376" y="4352544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Configuração 2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6437376" y="4718304"/>
            <a:ext cx="462686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Ruído → mediana → operação pontual → High-Boost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078992" y="550468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A ordem/técnica final deve ser mantida somente se o grupo justificar tecnicamente e os resultados confirmarem a escolha.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Ruído Gaussiano controlado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Etapa 3 · implementação própria · Heloisa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287000" y="42976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0152" y="475488"/>
            <a:ext cx="859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HELOISA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1E6F78"/>
                </a:solidFill>
              </a:rPr>
              <a:t>MODELO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60934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</a:rPr>
              <a:t>g(x,y) = f(x,y) + n(x,y)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13232" y="2221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6F78"/>
                </a:solidFill>
              </a:rPr>
              <a:t>n(x,y) ~ N(0, 15²)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2816352"/>
            <a:ext cx="3886200" cy="2240280"/>
          </a:xfrm>
          <a:prstGeom prst="roundRect">
            <a:avLst>
              <a:gd name="adj" fmla="val 3265"/>
            </a:avLst>
          </a:prstGeom>
          <a:solidFill>
            <a:srgbClr val="D9EEEC"/>
          </a:solidFill>
          <a:ln w="12700">
            <a:solidFill>
              <a:srgbClr val="D9E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816352"/>
            <a:ext cx="73152" cy="2240280"/>
          </a:xfrm>
          <a:prstGeom prst="rect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98094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Parâmetros usados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86968" y="3346704"/>
            <a:ext cx="3483864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σ = 15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Média =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Semente = 42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Saída limitada a [0, 255] e convertida para uint8.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6048" y="1371600"/>
            <a:ext cx="6537960" cy="3611880"/>
          </a:xfrm>
          <a:prstGeom prst="roundRect">
            <a:avLst>
              <a:gd name="adj" fmla="val 1519"/>
            </a:avLst>
          </a:prstGeom>
          <a:solidFill>
            <a:srgbClr val="13212E"/>
          </a:solidFill>
          <a:ln w="12700">
            <a:solidFill>
              <a:srgbClr val="1321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517904"/>
            <a:ext cx="620877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gerador = np.random.default_rng(semente)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ruido = gerador.normal(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loc=media, scale=sigma,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size=imagem.shape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imagem_ruidosa = np.clip(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imagem.astype(float) + ruido, 0, 255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56048" y="5230368"/>
            <a:ext cx="6537960" cy="685800"/>
          </a:xfrm>
          <a:prstGeom prst="roundRect">
            <a:avLst>
              <a:gd name="adj" fmla="val 106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56048" y="5230368"/>
            <a:ext cx="73152" cy="685800"/>
          </a:xfrm>
          <a:prstGeom prst="rect">
            <a:avLst/>
          </a:prstGeom>
          <a:solidFill>
            <a:srgbClr val="316DA4"/>
          </a:solidFill>
          <a:ln w="12700">
            <a:solidFill>
              <a:srgbClr val="31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5394960"/>
            <a:ext cx="6135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Por que “controlado”?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157216" y="5760720"/>
            <a:ext cx="6135624" cy="-9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Mesmos parâmetros + semente fixa ⇒ experimento reproduzível e comparações mais justas.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Convolução 2D manual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Base reutilizada pela suavização e também pelo aguçamento.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287000" y="42976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0152" y="475488"/>
            <a:ext cx="859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HELOISA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298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1E6F78"/>
                </a:solidFill>
              </a:rPr>
              <a:t>KERNEL GAUSSIANO 5×5 · Σ = 1.0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1664208"/>
            <a:ext cx="566928" cy="566928"/>
          </a:xfrm>
          <a:prstGeom prst="rect">
            <a:avLst/>
          </a:prstGeom>
          <a:solidFill>
            <a:srgbClr val="F3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379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0.003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1389888" y="1664208"/>
            <a:ext cx="566928" cy="566928"/>
          </a:xfrm>
          <a:prstGeom prst="rect">
            <a:avLst/>
          </a:prstGeom>
          <a:solidFill>
            <a:srgbClr val="E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8379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0.013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1956816" y="1664208"/>
            <a:ext cx="566928" cy="566928"/>
          </a:xfrm>
          <a:prstGeom prst="rect">
            <a:avLst/>
          </a:prstGeom>
          <a:solidFill>
            <a:srgbClr val="E6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18379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0.022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523744" y="1664208"/>
            <a:ext cx="566928" cy="566928"/>
          </a:xfrm>
          <a:prstGeom prst="rect">
            <a:avLst/>
          </a:prstGeom>
          <a:solidFill>
            <a:srgbClr val="E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51176" y="18379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0.013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090672" y="1664208"/>
            <a:ext cx="566928" cy="566928"/>
          </a:xfrm>
          <a:prstGeom prst="rect">
            <a:avLst/>
          </a:prstGeom>
          <a:solidFill>
            <a:srgbClr val="F3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18104" y="18379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0.003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22960" y="2231136"/>
            <a:ext cx="566928" cy="566928"/>
          </a:xfrm>
          <a:prstGeom prst="rect">
            <a:avLst/>
          </a:prstGeom>
          <a:solidFill>
            <a:srgbClr val="E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4048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0.013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1389888" y="2231136"/>
            <a:ext cx="566928" cy="566928"/>
          </a:xfrm>
          <a:prstGeom prst="rect">
            <a:avLst/>
          </a:prstGeom>
          <a:solidFill>
            <a:srgbClr val="C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24048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0.060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1956816" y="2231136"/>
            <a:ext cx="566928" cy="566928"/>
          </a:xfrm>
          <a:prstGeom prst="rect">
            <a:avLst/>
          </a:prstGeom>
          <a:solidFill>
            <a:srgbClr val="B2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84248" y="24048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0.098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2523744" y="2231136"/>
            <a:ext cx="566928" cy="566928"/>
          </a:xfrm>
          <a:prstGeom prst="rect">
            <a:avLst/>
          </a:prstGeom>
          <a:solidFill>
            <a:srgbClr val="C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51176" y="24048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0.060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3090672" y="2231136"/>
            <a:ext cx="566928" cy="566928"/>
          </a:xfrm>
          <a:prstGeom prst="rect">
            <a:avLst/>
          </a:prstGeom>
          <a:solidFill>
            <a:srgbClr val="E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18104" y="24048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0.013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22960" y="2798064"/>
            <a:ext cx="566928" cy="566928"/>
          </a:xfrm>
          <a:prstGeom prst="rect">
            <a:avLst/>
          </a:prstGeom>
          <a:solidFill>
            <a:srgbClr val="E6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297180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0.022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389888" y="2798064"/>
            <a:ext cx="566928" cy="566928"/>
          </a:xfrm>
          <a:prstGeom prst="rect">
            <a:avLst/>
          </a:prstGeom>
          <a:solidFill>
            <a:srgbClr val="B2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297180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0.098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1956816" y="2798064"/>
            <a:ext cx="566928" cy="566928"/>
          </a:xfrm>
          <a:prstGeom prst="rect">
            <a:avLst/>
          </a:prstGeom>
          <a:solidFill>
            <a:srgbClr val="87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84248" y="297180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0.162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2523744" y="2798064"/>
            <a:ext cx="566928" cy="566928"/>
          </a:xfrm>
          <a:prstGeom prst="rect">
            <a:avLst/>
          </a:prstGeom>
          <a:solidFill>
            <a:srgbClr val="B2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51176" y="297180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0.098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3090672" y="2798064"/>
            <a:ext cx="566928" cy="566928"/>
          </a:xfrm>
          <a:prstGeom prst="rect">
            <a:avLst/>
          </a:prstGeom>
          <a:solidFill>
            <a:srgbClr val="E6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18104" y="297180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0.022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822960" y="3364992"/>
            <a:ext cx="566928" cy="566928"/>
          </a:xfrm>
          <a:prstGeom prst="rect">
            <a:avLst/>
          </a:prstGeom>
          <a:solidFill>
            <a:srgbClr val="E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" y="35387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0.013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1389888" y="3364992"/>
            <a:ext cx="566928" cy="566928"/>
          </a:xfrm>
          <a:prstGeom prst="rect">
            <a:avLst/>
          </a:prstGeom>
          <a:solidFill>
            <a:srgbClr val="C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17320" y="35387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0.060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1956816" y="3364992"/>
            <a:ext cx="566928" cy="566928"/>
          </a:xfrm>
          <a:prstGeom prst="rect">
            <a:avLst/>
          </a:prstGeom>
          <a:solidFill>
            <a:srgbClr val="B2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84248" y="35387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0.098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2523744" y="3364992"/>
            <a:ext cx="566928" cy="566928"/>
          </a:xfrm>
          <a:prstGeom prst="rect">
            <a:avLst/>
          </a:prstGeom>
          <a:solidFill>
            <a:srgbClr val="C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51176" y="35387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0.060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3090672" y="3364992"/>
            <a:ext cx="566928" cy="566928"/>
          </a:xfrm>
          <a:prstGeom prst="rect">
            <a:avLst/>
          </a:prstGeom>
          <a:solidFill>
            <a:srgbClr val="E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18104" y="35387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0.013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822960" y="3931920"/>
            <a:ext cx="566928" cy="566928"/>
          </a:xfrm>
          <a:prstGeom prst="rect">
            <a:avLst/>
          </a:prstGeom>
          <a:solidFill>
            <a:srgbClr val="F3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0392" y="41056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0.003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1389888" y="3931920"/>
            <a:ext cx="566928" cy="566928"/>
          </a:xfrm>
          <a:prstGeom prst="rect">
            <a:avLst/>
          </a:prstGeom>
          <a:solidFill>
            <a:srgbClr val="E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17320" y="41056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0.013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1956816" y="3931920"/>
            <a:ext cx="566928" cy="566928"/>
          </a:xfrm>
          <a:prstGeom prst="rect">
            <a:avLst/>
          </a:prstGeom>
          <a:solidFill>
            <a:srgbClr val="E6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84248" y="41056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0.022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2523744" y="3931920"/>
            <a:ext cx="566928" cy="566928"/>
          </a:xfrm>
          <a:prstGeom prst="rect">
            <a:avLst/>
          </a:prstGeom>
          <a:solidFill>
            <a:srgbClr val="EC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51176" y="41056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0.013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3090672" y="3931920"/>
            <a:ext cx="566928" cy="566928"/>
          </a:xfrm>
          <a:prstGeom prst="rect">
            <a:avLst/>
          </a:prstGeom>
          <a:solidFill>
            <a:srgbClr val="F3F4F2"/>
          </a:solidFill>
          <a:ln w="12700">
            <a:solidFill>
              <a:srgbClr val="D6E2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18104" y="41056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0.003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1298448" y="4645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F78"/>
                </a:solidFill>
              </a:rPr>
              <a:t>Σ kernel = 1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251960" y="1417320"/>
            <a:ext cx="420624" cy="420624"/>
          </a:xfrm>
          <a:prstGeom prst="ellipse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51960" y="15270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818888" y="14081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Valida imagem 2D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e kernel ímpar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462272" y="1847088"/>
            <a:ext cx="0" cy="411480"/>
          </a:xfrm>
          <a:prstGeom prst="line">
            <a:avLst/>
          </a:prstGeom>
          <a:noFill/>
          <a:ln w="17780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251960" y="2258568"/>
            <a:ext cx="420624" cy="420624"/>
          </a:xfrm>
          <a:prstGeom prst="ellipse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51960" y="236829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4818888" y="22494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Converte para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float64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462272" y="2688336"/>
            <a:ext cx="0" cy="411480"/>
          </a:xfrm>
          <a:prstGeom prst="line">
            <a:avLst/>
          </a:prstGeom>
          <a:noFill/>
          <a:ln w="17780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4251960" y="3099816"/>
            <a:ext cx="420624" cy="420624"/>
          </a:xfrm>
          <a:prstGeom prst="ellipse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51960" y="320954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818888" y="30906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Rotaciona o kernel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em 180°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462272" y="3529584"/>
            <a:ext cx="0" cy="411480"/>
          </a:xfrm>
          <a:prstGeom prst="line">
            <a:avLst/>
          </a:prstGeom>
          <a:noFill/>
          <a:ln w="17780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4251960" y="3941064"/>
            <a:ext cx="420624" cy="420624"/>
          </a:xfrm>
          <a:prstGeom prst="ellipse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51960" y="405079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4818888" y="39319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Padding com zeros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nas bordas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4462272" y="4370832"/>
            <a:ext cx="0" cy="411480"/>
          </a:xfrm>
          <a:prstGeom prst="line">
            <a:avLst/>
          </a:prstGeom>
          <a:noFill/>
          <a:ln w="17780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4251960" y="4782312"/>
            <a:ext cx="420624" cy="420624"/>
          </a:xfrm>
          <a:prstGeom prst="ellipse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51960" y="48920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4818888" y="47731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Desliza, multiplica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e soma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818120" y="14173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818120" y="1417320"/>
            <a:ext cx="73152" cy="1234440"/>
          </a:xfrm>
          <a:prstGeom prst="rect">
            <a:avLst/>
          </a:prstGeom>
          <a:solidFill>
            <a:srgbClr val="316DA4"/>
          </a:solidFill>
          <a:ln w="12700">
            <a:solidFill>
              <a:srgbClr val="316DA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19288" y="1581912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Saída em float64</a:t>
            </a:r>
            <a:endParaRPr lang="en-US" sz="1550" dirty="0"/>
          </a:p>
        </p:txBody>
      </p:sp>
      <p:sp>
        <p:nvSpPr>
          <p:cNvPr id="80" name="Text 78"/>
          <p:cNvSpPr/>
          <p:nvPr/>
        </p:nvSpPr>
        <p:spPr>
          <a:xfrm>
            <a:off x="8019288" y="1947672"/>
            <a:ext cx="298094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Laplaciano e Sobel podem gerar valores negativos antes do ajuste final.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7818120" y="2907792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818120" y="2907792"/>
            <a:ext cx="73152" cy="1234440"/>
          </a:xfrm>
          <a:prstGeom prst="rect">
            <a:avLst/>
          </a:prstGeom>
          <a:solidFill>
            <a:srgbClr val="EAA43A"/>
          </a:solidFill>
          <a:ln w="12700">
            <a:solidFill>
              <a:srgbClr val="EAA43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19288" y="3072384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Implementação própria</a:t>
            </a:r>
            <a:endParaRPr lang="en-US" sz="1550" dirty="0"/>
          </a:p>
        </p:txBody>
      </p:sp>
      <p:sp>
        <p:nvSpPr>
          <p:cNvPr id="84" name="Text 82"/>
          <p:cNvSpPr/>
          <p:nvPr/>
        </p:nvSpPr>
        <p:spPr>
          <a:xfrm>
            <a:off x="8019288" y="3438144"/>
            <a:ext cx="298094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Sem cv2.filter2D, scipy.ndimage.convolve ou equivalentes.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7818120" y="4407408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818120" y="4407408"/>
            <a:ext cx="73152" cy="1234440"/>
          </a:xfrm>
          <a:prstGeom prst="rect">
            <a:avLst/>
          </a:prstGeom>
          <a:solidFill>
            <a:srgbClr val="3B8065"/>
          </a:solidFill>
          <a:ln w="12700">
            <a:solidFill>
              <a:srgbClr val="3B806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019288" y="45720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Reutilização</a:t>
            </a:r>
            <a:endParaRPr lang="en-US" sz="1550" dirty="0"/>
          </a:p>
        </p:txBody>
      </p:sp>
      <p:sp>
        <p:nvSpPr>
          <p:cNvPr id="88" name="Text 86"/>
          <p:cNvSpPr/>
          <p:nvPr/>
        </p:nvSpPr>
        <p:spPr>
          <a:xfrm>
            <a:off x="8019288" y="4937760"/>
            <a:ext cx="298094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 mesma conv2d_float é chamada no Gaussiano e no código de aguçamento do João.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Suavização: Gaussiano × Mediana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Etapa 5 · duas estratégias implementadas manualmente.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287000" y="42976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0152" y="475488"/>
            <a:ext cx="859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HELOISA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30368" cy="3337560"/>
          </a:xfrm>
          <a:prstGeom prst="roundRect">
            <a:avLst>
              <a:gd name="adj" fmla="val 219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73152" cy="3337560"/>
          </a:xfrm>
          <a:prstGeom prst="rect">
            <a:avLst/>
          </a:prstGeom>
          <a:solidFill>
            <a:srgbClr val="316DA4"/>
          </a:solidFill>
          <a:ln w="12700">
            <a:solidFill>
              <a:srgbClr val="31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819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Filtro Gaussiano 5×5 · σ = 1.0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86968" y="1947672"/>
            <a:ext cx="4828032" cy="2642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Kernel gerado pela distribuição Gaussiana e normalizado.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Média ponderada: maior peso para pixels próximos ao centro.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Aplicado pela convolução 2D manual.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Escolha natural para o ruído artificial Gaussiano inserido no experimento.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230368" cy="3337560"/>
          </a:xfrm>
          <a:prstGeom prst="roundRect">
            <a:avLst>
              <a:gd name="adj" fmla="val 2192"/>
            </a:avLst>
          </a:prstGeom>
          <a:solidFill>
            <a:srgbClr val="F0ECF8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417320"/>
            <a:ext cx="73152" cy="3337560"/>
          </a:xfrm>
          <a:prstGeom prst="rect">
            <a:avLst/>
          </a:prstGeom>
          <a:solidFill>
            <a:srgbClr val="7257A7"/>
          </a:solidFill>
          <a:ln w="12700">
            <a:solidFill>
              <a:srgbClr val="725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5819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Filtro de mediana 3×3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64808" y="1947672"/>
            <a:ext cx="4828032" cy="2642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Não usa convolução.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Ordena os 9 valores da vizinhança e escolhe o valor central.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Padding “edge”: repete pixels próximos da borda.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Serve como alternativa para comparar preservação de estruturas locais.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71032" y="1645920"/>
            <a:ext cx="0" cy="2880360"/>
          </a:xfrm>
          <a:prstGeom prst="line">
            <a:avLst/>
          </a:prstGeom>
          <a:noFill/>
          <a:ln w="15240">
            <a:solidFill>
              <a:srgbClr val="C9D3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25296" y="5074920"/>
            <a:ext cx="9738360" cy="749808"/>
          </a:xfrm>
          <a:prstGeom prst="roundRect">
            <a:avLst>
              <a:gd name="adj" fmla="val 9756"/>
            </a:avLst>
          </a:prstGeom>
          <a:solidFill>
            <a:srgbClr val="D9EEEC"/>
          </a:solidFill>
          <a:ln w="12700">
            <a:solidFill>
              <a:srgbClr val="D9E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25296" y="5074920"/>
            <a:ext cx="73152" cy="749808"/>
          </a:xfrm>
          <a:prstGeom prst="rect">
            <a:avLst/>
          </a:prstGeom>
          <a:solidFill>
            <a:srgbClr val="1E6F78"/>
          </a:solidFill>
          <a:ln w="12700">
            <a:solidFill>
              <a:srgbClr val="1E6F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26464" y="5239512"/>
            <a:ext cx="9336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Pergunta central da comparação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26464" y="5605272"/>
            <a:ext cx="933602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Qual método reduz melhor o ruído sem apagar bordas e estruturas relevantes da lesão?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Aguçamento e métricas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Estrutura reservada para a etapa do João e integração final.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46920" y="402336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20072" y="448056"/>
            <a:ext cx="17739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A43A"/>
                </a:solidFill>
              </a:rPr>
              <a:t>PREENCHER COM JOÃO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09854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Laplaciano / Sobel / High-Boost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0392" y="2409444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A94A0"/>
                </a:solidFill>
              </a:rPr>
              <a:t>Inserir técnica(s) final(is), parâmetros e trecho de código.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209854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Resultado do aguçamento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53712" y="2409444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A94A0"/>
                </a:solidFill>
              </a:rPr>
              <a:t>Imagem completa realçada — não apenas mapa de bordas.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209854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PSNR + SSIM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57032" y="2409444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A94A0"/>
                </a:solidFill>
              </a:rPr>
              <a:t>Fórmulas, justificativa e interpretação.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51560" y="3886200"/>
            <a:ext cx="10058400" cy="1572768"/>
          </a:xfrm>
          <a:prstGeom prst="roundRect">
            <a:avLst>
              <a:gd name="adj" fmla="val 4651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3886200"/>
            <a:ext cx="73152" cy="1572768"/>
          </a:xfrm>
          <a:prstGeom prst="rect">
            <a:avLst/>
          </a:prstGeom>
          <a:solidFill>
            <a:srgbClr val="3B8065"/>
          </a:solidFill>
          <a:ln w="12700">
            <a:solidFill>
              <a:srgbClr val="3B80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2728" y="4050792"/>
            <a:ext cx="9656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Já validado na integração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52728" y="4416552"/>
            <a:ext cx="965606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 conv2d_float da Heloisa funciona com os filtros do João. O Sobel foi verificado em uma imagem sintética com transição vertical e produziu a linha de borda esperada.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Configuração 1 × Configuração 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O professor exige pelo menos duas estratégias com comparação visual e quantitativa.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46920" y="402336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20072" y="448056"/>
            <a:ext cx="17739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A43A"/>
                </a:solidFill>
              </a:rPr>
              <a:t>VALIDAR PIPELINE FINAL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81328"/>
            <a:ext cx="73152" cy="3246120"/>
          </a:xfrm>
          <a:prstGeom prst="rect">
            <a:avLst/>
          </a:prstGeom>
          <a:solidFill>
            <a:srgbClr val="3B8065"/>
          </a:solidFill>
          <a:ln w="12700">
            <a:solidFill>
              <a:srgbClr val="3B80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64592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Configuração 1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78408" y="2011680"/>
            <a:ext cx="4672584" cy="2551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Ruído Gaussiano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↓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Operação pontual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↓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Filtro Gaussiano 5×5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↓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High-Boost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27648" y="1481328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F0ECF8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7648" y="1481328"/>
            <a:ext cx="73152" cy="3246120"/>
          </a:xfrm>
          <a:prstGeom prst="rect">
            <a:avLst/>
          </a:prstGeom>
          <a:solidFill>
            <a:srgbClr val="7257A7"/>
          </a:solidFill>
          <a:ln w="12700">
            <a:solidFill>
              <a:srgbClr val="725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164592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Configuração 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28816" y="2011680"/>
            <a:ext cx="4672584" cy="2551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Ruído Gaussiano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↓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Filtro de mediana 3×3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↓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Operação pontual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↓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High-Boost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51560" y="523036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A diferença entre as duas configurações deve ser explicada como decisão técnica, não apenas como “teste”.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Responsável principal: Heloisa · preencher depois da pipeline final e das métricas.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46920" y="402336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20072" y="448056"/>
            <a:ext cx="17739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A43A"/>
                </a:solidFill>
              </a:rPr>
              <a:t>RESULTADOS PENDENTES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84832" y="12435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Original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25112" y="12435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Degradada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65392" y="12435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Config.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805672" y="12435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Config. 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17556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F2937"/>
                </a:solidFill>
              </a:rPr>
              <a:t>ISIC_0014049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1965960" y="155448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18105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imagem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130552" y="212140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A94A0"/>
                </a:solidFill>
              </a:rPr>
              <a:t>gerar pelo notebook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0" y="155448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18105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imagem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70832" y="212140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A94A0"/>
                </a:solidFill>
              </a:rPr>
              <a:t>gerar pelo notebook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46520" y="155448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18105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imagem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11112" y="212140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A94A0"/>
                </a:solidFill>
              </a:rPr>
              <a:t>gerar pelo notebook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686800" y="155448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51392" y="18105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imagem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851392" y="212140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A94A0"/>
                </a:solidFill>
              </a:rPr>
              <a:t>gerar pelo notebook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1792" y="30815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F2937"/>
                </a:solidFill>
              </a:rPr>
              <a:t>ISIC_7236365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1965960" y="288036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30552" y="31363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imagem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130552" y="344728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A94A0"/>
                </a:solidFill>
              </a:rPr>
              <a:t>gerar pelo notebook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06240" y="288036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31363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imagem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370832" y="344728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A94A0"/>
                </a:solidFill>
              </a:rPr>
              <a:t>gerar pelo notebook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46520" y="288036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31363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imagem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611112" y="344728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A94A0"/>
                </a:solidFill>
              </a:rPr>
              <a:t>gerar pelo notebook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686800" y="288036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51392" y="31363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imagem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851392" y="344728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A94A0"/>
                </a:solidFill>
              </a:rPr>
              <a:t>gerar pelo notebook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1792" y="44074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F2937"/>
                </a:solidFill>
              </a:rPr>
              <a:t>ISIC_0021531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1965960" y="420624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30552" y="4462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imagem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2130552" y="47731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A94A0"/>
                </a:solidFill>
              </a:rPr>
              <a:t>gerar pelo notebook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06240" y="420624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4462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imagem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4370832" y="47731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A94A0"/>
                </a:solidFill>
              </a:rPr>
              <a:t>gerar pelo notebook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46520" y="420624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11112" y="4462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imagem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611112" y="47731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A94A0"/>
                </a:solidFill>
              </a:rPr>
              <a:t>gerar pelo notebook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686800" y="4206240"/>
            <a:ext cx="1901952" cy="1024128"/>
          </a:xfrm>
          <a:prstGeom prst="roundRect">
            <a:avLst>
              <a:gd name="adj" fmla="val 7143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51392" y="4462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imagem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851392" y="47731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A94A0"/>
                </a:solidFill>
              </a:rPr>
              <a:t>gerar pelo notebook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05840" y="5605272"/>
            <a:ext cx="10195560" cy="475488"/>
          </a:xfrm>
          <a:prstGeom prst="roundRect">
            <a:avLst>
              <a:gd name="adj" fmla="val 15385"/>
            </a:avLst>
          </a:prstGeom>
          <a:solidFill>
            <a:srgbClr val="F3F5F7">
              <a:alpha val="95000"/>
            </a:srgbClr>
          </a:solidFill>
          <a:ln w="17780">
            <a:solidFill>
              <a:srgbClr val="AAB4B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70432" y="5586984"/>
            <a:ext cx="9866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Tabela PSNR / SSIM por imagem e configuração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170432" y="5897880"/>
            <a:ext cx="9866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A94A0"/>
                </a:solidFill>
              </a:rPr>
              <a:t>Substituir este bloco pela tabela gerada pelo notebook.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Análise, discussão e conclusão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Fechar somente depois de observar imagens + PSNR + SSIM.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46920" y="402336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20072" y="448056"/>
            <a:ext cx="17739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A43A"/>
                </a:solidFill>
              </a:rPr>
              <a:t>RESULTADOS PENDENTES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08760"/>
            <a:ext cx="73152" cy="3611880"/>
          </a:xfrm>
          <a:prstGeom prst="rect">
            <a:avLst/>
          </a:prstGeom>
          <a:solidFill>
            <a:srgbClr val="316DA4"/>
          </a:solidFill>
          <a:ln w="12700">
            <a:solidFill>
              <a:srgbClr val="31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67335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1 · Melhor por imagem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78408" y="2039112"/>
            <a:ext cx="2999232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ISIC_0014049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→ [preencher]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ISIC_7236365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→ [preencher]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ISIC_0021531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→ [preencher]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7408" y="1508760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FFF4DD"/>
          </a:solidFill>
          <a:ln w="12700">
            <a:solidFill>
              <a:srgbClr val="FFF4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508760"/>
            <a:ext cx="73152" cy="3611880"/>
          </a:xfrm>
          <a:prstGeom prst="rect">
            <a:avLst/>
          </a:prstGeom>
          <a:solidFill>
            <a:srgbClr val="EAA43A"/>
          </a:solidFill>
          <a:ln w="12700">
            <a:solidFill>
              <a:srgbClr val="EAA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67335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2 · Trade-offs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08576" y="2039112"/>
            <a:ext cx="2999232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Contraste × ruído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Suavização × perda de detalhes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Aguçamento × realce excessivo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Métrica × avaliação visual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37576" y="1508760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F0ECF8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37576" y="1508760"/>
            <a:ext cx="73152" cy="3611880"/>
          </a:xfrm>
          <a:prstGeom prst="rect">
            <a:avLst/>
          </a:prstGeom>
          <a:solidFill>
            <a:srgbClr val="7257A7"/>
          </a:solidFill>
          <a:ln w="12700">
            <a:solidFill>
              <a:srgbClr val="7257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167335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3 · Limitações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38744" y="2039112"/>
            <a:ext cx="2999232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Padding nas bordas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Artefatos naturais (pelos/régua)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Parâmetros fixos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Nem toda técnica funciona igual em todas as imagens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5513832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Conclusão final: escolher a combinação com melhor compromisso entre contraste, redução de ruído e preservação/realce de detalhes.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Apêndice · validações funcionais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Material de apoio para perguntas técnicas; não substituir PSNR/SSIM na análise final.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875520" y="42976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48672" y="475488"/>
            <a:ext cx="12710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APOIO / Q&amp;A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316DA4"/>
          </a:solidFill>
          <a:ln w="12700">
            <a:solidFill>
              <a:srgbClr val="31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8191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Ruído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86968" y="1947672"/>
            <a:ext cx="302666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Erro absoluto médio observado: 11,97 níveis nas 3 imagens.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Valor coerente com σ = 15 para ruído Gaussiano de média zero.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3B8065"/>
          </a:solidFill>
          <a:ln w="12700">
            <a:solidFill>
              <a:srgbClr val="3B80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58191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Suavização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90288" y="1947672"/>
            <a:ext cx="302666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MAE após Gaussiano: 3,83 / 4,80 / 3,79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MAE após mediana: 4,97 / 5,57 / 4,93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0ECF8"/>
          </a:solidFill>
          <a:ln w="12700">
            <a:solidFill>
              <a:srgbClr val="F0EC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7257A7"/>
          </a:solidFill>
          <a:ln w="12700">
            <a:solidFill>
              <a:srgbClr val="7257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58191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Integração com Sobel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93608" y="1947672"/>
            <a:ext cx="302666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Imagem sintética 100×100 com metade preta e metade branca → linha vertical clara na transição.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103327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Essas checagens serviram para verificar comportamento e integração durante o desenvolvimento. A comparação oficial do trabalho permanece PSNR + SSIM, conforme o planejamento do grupo.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86200" y="5047488"/>
            <a:ext cx="4480560" cy="777240"/>
          </a:xfrm>
          <a:prstGeom prst="roundRect">
            <a:avLst>
              <a:gd name="adj" fmla="val 7059"/>
            </a:avLst>
          </a:prstGeom>
          <a:solidFill>
            <a:srgbClr val="13212E"/>
          </a:solidFill>
          <a:ln w="12700">
            <a:solidFill>
              <a:srgbClr val="1321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0792" y="5193792"/>
            <a:ext cx="4151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saida.shape == original.shape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saida.dtype == np.uint8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UNIVALI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M1 – Operações Pontuais e Filtragem Espacial</dc:title>
  <dc:subject>Projeto M1 – Operações Pontuais e Filtragem Espacial</dc:subject>
  <dc:creator>Heloisa Born, Gustavo Mello, João Paulo Jorge</dc:creator>
  <cp:lastModifiedBy>Heloisa Born, Gustavo Mello, João Paulo Jorge</cp:lastModifiedBy>
  <cp:revision>1</cp:revision>
  <dcterms:created xsi:type="dcterms:W3CDTF">2026-09-26T23:01:45Z</dcterms:created>
  <dcterms:modified xsi:type="dcterms:W3CDTF">2026-09-26T23:01:45Z</dcterms:modified>
</cp:coreProperties>
</file>