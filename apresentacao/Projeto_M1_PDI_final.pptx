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20"/>
    <p:sldId id="260" r:id="rId6"/>
    <p:sldId id="261" r:id="rId7"/>
    <p:sldId id="262" r:id="rId8"/>
    <p:sldId id="263" r:id="rId9"/>
    <p:sldId id="267" r:id="rId1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348394-913F-35D4-DA72-5E1A26753626}" v="87" dt="2026-09-28T19:24:42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Relationship Id="rId19" Type="http://schemas.openxmlformats.org/officeDocument/2006/relationships/slide" Target="slides/slide10.xml"/><Relationship Id="rId2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B2FCB-864D-4E90-B9B4-42D188D806DC}" type="datetimeFigureOut">
              <a:t>9/28/2026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48DB9-E479-4BA7-85E6-4D4375CCCDC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60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UNIVALI · Ciência da Computação · Processamento de Imagens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65288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M1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790688" y="1115568"/>
            <a:ext cx="3227832" cy="3566160"/>
          </a:xfrm>
          <a:prstGeom prst="roundRect">
            <a:avLst>
              <a:gd name="adj" fmla="val 339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0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E0FFFF"/>
          </a:solidFill>
          <a:ln w="12700">
            <a:solidFill>
              <a:srgbClr val="E0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68512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07424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EFFFF"/>
          </a:solidFill>
          <a:ln w="12700">
            <a:solidFill>
              <a:srgbClr val="BE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46336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5248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E0FFFF"/>
          </a:solidFill>
          <a:ln w="12700">
            <a:solidFill>
              <a:srgbClr val="E0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4FFFF"/>
          </a:solidFill>
          <a:ln w="12700">
            <a:solidFill>
              <a:srgbClr val="B4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07424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46336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4FFFF"/>
          </a:solidFill>
          <a:ln w="12700">
            <a:solidFill>
              <a:srgbClr val="B4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85248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EFFFF"/>
          </a:solidFill>
          <a:ln w="12700">
            <a:solidFill>
              <a:srgbClr val="BE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68512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07424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46336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85248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EFFFF"/>
          </a:solidFill>
          <a:ln w="12700">
            <a:solidFill>
              <a:srgbClr val="BE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68512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4FFFF"/>
          </a:solidFill>
          <a:ln w="12700">
            <a:solidFill>
              <a:srgbClr val="B4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07424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46336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4FFFF"/>
          </a:solidFill>
          <a:ln w="12700">
            <a:solidFill>
              <a:srgbClr val="B4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85248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E0FFFF"/>
          </a:solidFill>
          <a:ln w="12700">
            <a:solidFill>
              <a:srgbClr val="E0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68512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07424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EFFFF"/>
          </a:solidFill>
          <a:ln w="12700">
            <a:solidFill>
              <a:srgbClr val="BE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46336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E0FFFF"/>
          </a:solidFill>
          <a:ln w="12700">
            <a:solidFill>
              <a:srgbClr val="E0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005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PDI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8065008" y="4443984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6E6"/>
                </a:solidFill>
              </a:rPr>
              <a:t>ruído → suavização → aguçamento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012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1E6F78"/>
                </a:solidFill>
              </a:rPr>
              <a:t>PROJETO M1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0120" y="1572768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</a:rPr>
              <a:t>Operações Pontuais e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</a:rPr>
              <a:t>Filtragem Espacial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987552" y="29992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6F78"/>
                </a:solidFill>
              </a:rPr>
              <a:t>Melhoria de imagens dermatoscópicas do ISIC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87552" y="385876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Gustavo Corrêa de Mello · Heloisa Born · João Paulo Jorge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87552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Professor Felipe Viel · 2026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340851" y="5425799"/>
            <a:ext cx="1523372" cy="360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e conjunto de imagens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67085"/>
                </a:solidFill>
              </a:rPr>
              <a:t>Imagens originais do ISIC · três melanomas do tronco posterior, escolhidos por desafios de qualidade diferentes.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0156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3920" y="3452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316DA4"/>
                </a:solidFill>
              </a:rPr>
              <a:t>Contraste muito baixo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005840" y="3730752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Faixa de intensidade pequena; caso forte para operação pontual.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53128" y="1417320"/>
            <a:ext cx="340156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ISIC_7236365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1728" y="3452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EAA43A"/>
                </a:solidFill>
              </a:rPr>
              <a:t>Pelos densos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773168" y="3730752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Textura estrutural elevada; pode ser realçada em excesso.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220456" y="1417320"/>
            <a:ext cx="340156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b="1" dirty="0">
              <a:solidFill>
                <a:srgbClr val="17324D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49056" y="3452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7257A7"/>
                </a:solidFill>
              </a:rPr>
              <a:t>Bordas difusas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540496" y="3730752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Imagem entre as menos nítidas; bom caso para aguçamento.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800" y="5010912"/>
            <a:ext cx="11045952" cy="960120"/>
          </a:xfrm>
          <a:prstGeom prst="roundRect">
            <a:avLst>
              <a:gd name="adj" fmla="val 7619"/>
            </a:avLst>
          </a:prstGeom>
          <a:solidFill>
            <a:srgbClr val="D9EEEC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010912"/>
            <a:ext cx="73152" cy="960120"/>
          </a:xfrm>
          <a:prstGeom prst="rect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5175504"/>
            <a:ext cx="1064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Objetivo do experimento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86968" y="5541264"/>
            <a:ext cx="1064361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Encontrar o melhor compromisso entre melhoria de contraste, redução de ruído e preservação/realce de detalhes — sem introduzir artefatos que prejudiquem a interpretação.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2</a:t>
            </a:r>
          </a:p>
        </p:txBody>
      </p:sp>
      <p:pic>
        <p:nvPicPr>
          <p:cNvPr id="27" name="Picture 26" descr="A close up of a ruler and a brown spot&#10;&#10;O conteúdo gerado por IA pode estar incorreto.">
            <a:extLst>
              <a:ext uri="{FF2B5EF4-FFF2-40B4-BE49-F238E27FC236}">
                <a16:creationId xmlns:a16="http://schemas.microsoft.com/office/drawing/2014/main" id="{A851272F-4E46-0CC2-E2DB-5E98E7499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76" y="1554480"/>
            <a:ext cx="2603928" cy="1757680"/>
          </a:xfrm>
          <a:prstGeom prst="rect">
            <a:avLst/>
          </a:prstGeom>
        </p:spPr>
      </p:pic>
      <p:pic>
        <p:nvPicPr>
          <p:cNvPr id="28" name="Picture 27" descr="Hair on a person&amp;#39;s skin&#10;&#10;O conteúdo gerado por IA pode estar incorreto.">
            <a:extLst>
              <a:ext uri="{FF2B5EF4-FFF2-40B4-BE49-F238E27FC236}">
                <a16:creationId xmlns:a16="http://schemas.microsoft.com/office/drawing/2014/main" id="{B8483D7C-3BA6-F654-B71C-952008E53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0" y="1554480"/>
            <a:ext cx="2743200" cy="1757680"/>
          </a:xfrm>
          <a:prstGeom prst="rect">
            <a:avLst/>
          </a:prstGeom>
        </p:spPr>
      </p:pic>
      <p:pic>
        <p:nvPicPr>
          <p:cNvPr id="29" name="Picture 28" descr="A brown blotch on a white surface&#10;&#10;O conteúdo gerado por IA pode estar incorreto.">
            <a:extLst>
              <a:ext uri="{FF2B5EF4-FFF2-40B4-BE49-F238E27FC236}">
                <a16:creationId xmlns:a16="http://schemas.microsoft.com/office/drawing/2014/main" id="{73324A9E-BE68-6DF9-3100-226262F67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1554480"/>
            <a:ext cx="2763520" cy="175768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148628" y="1627632"/>
            <a:ext cx="1051560" cy="23774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3716" bIns="9144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ISIC_0014049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8352" y="1627632"/>
            <a:ext cx="1051560" cy="23774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3716" bIns="9144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ISIC_7236365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552" y="1627632"/>
            <a:ext cx="1051560" cy="23774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3716" bIns="9144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ISIC_0021531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do trabalho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67085"/>
                </a:solidFill>
              </a:rPr>
              <a:t>Cada etapa foi implementada pelo grupo; as duas pipelines usam as mesmas técnicas e parâmetros, mudando apenas a ordem.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2103120"/>
            <a:ext cx="493776" cy="493776"/>
          </a:xfrm>
          <a:prstGeom prst="ellipse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Imagem original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16DA4"/>
                </a:solidFill>
              </a:rPr>
              <a:t>Gustavo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03704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41448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2103120"/>
            <a:ext cx="493776" cy="493776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96896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Ruído controlado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96896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6F78"/>
                </a:solidFill>
              </a:rPr>
              <a:t>Heloisa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05072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42816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2103120"/>
            <a:ext cx="493776" cy="493776"/>
          </a:xfrm>
          <a:prstGeom prst="ellipse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98264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Operação pontual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98264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16DA4"/>
                </a:solidFill>
              </a:rPr>
              <a:t>Gustavo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44184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2103120"/>
            <a:ext cx="493776" cy="493776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Suavização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99632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6F78"/>
                </a:solidFill>
              </a:rPr>
              <a:t>Heloisa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07808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45552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2103120"/>
            <a:ext cx="493776" cy="493776"/>
          </a:xfrm>
          <a:prstGeom prst="ellipse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01000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Aguçamento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01000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257A7"/>
                </a:solidFill>
              </a:rPr>
              <a:t>João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409176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46920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68128" y="2103120"/>
            <a:ext cx="493776" cy="493776"/>
          </a:xfrm>
          <a:prstGeom prst="ellipse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68128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02368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PSNR + SSIM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802368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257A7"/>
                </a:solidFill>
              </a:rPr>
              <a:t>João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32688" y="4187952"/>
            <a:ext cx="5029200" cy="1024128"/>
          </a:xfrm>
          <a:prstGeom prst="roundRect">
            <a:avLst>
              <a:gd name="adj" fmla="val 714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" y="4187952"/>
            <a:ext cx="73152" cy="1024128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33856" y="4352544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Configuração 1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1133856" y="4718304"/>
            <a:ext cx="46268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F2937"/>
                </a:solidFill>
              </a:rPr>
              <a:t>Ruído → equalização → Gaussiano → High-Boost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36208" y="4187952"/>
            <a:ext cx="5029200" cy="1024128"/>
          </a:xfrm>
          <a:prstGeom prst="roundRect">
            <a:avLst>
              <a:gd name="adj" fmla="val 7143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6208" y="4187952"/>
            <a:ext cx="73152" cy="1024128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7376" y="4352544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Configuração 2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6437376" y="4718304"/>
            <a:ext cx="46268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F2937"/>
                </a:solidFill>
              </a:rPr>
              <a:t>Ruído → High-Boost → Gaussiano → equalização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78992" y="550468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667085"/>
                </a:solidFill>
              </a:rPr>
              <a:t>Mesmas técnicas + mesmos parâmetros ⇒ a diferença final pode ser atribuída à ordem das etapas.</a:t>
            </a:r>
            <a:endParaRPr lang="en-US" sz="107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Ruído Gaussiano controlado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Etapa 3 · implementação própria · Heloisa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1E6F78"/>
                </a:solidFill>
              </a:rPr>
              <a:t>MODELO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60934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g(x,y) = f(x,y) + n(x,y)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13232" y="2221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6F78"/>
                </a:solidFill>
              </a:rPr>
              <a:t>n(x,y) ~ N(0, 15²)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816352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D9EEEC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816352"/>
            <a:ext cx="73152" cy="2240280"/>
          </a:xfrm>
          <a:prstGeom prst="rect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98094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Parâmetros usados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86968" y="3346704"/>
            <a:ext cx="3483864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F2937"/>
                </a:solidFill>
              </a:rPr>
              <a:t>σ = 15</a:t>
            </a:r>
            <a:endParaRPr lang="en-US" sz="1150" dirty="0"/>
          </a:p>
          <a:p>
            <a:r>
              <a:rPr sz="1150">
                <a:solidFill>
                  <a:srgbClr val="1F2937"/>
                </a:solidFill>
              </a:rPr>
              <a:t>Média = 0</a:t>
            </a:r>
          </a:p>
          <a:p>
            <a:r>
              <a:rPr sz="1150">
                <a:solidFill>
                  <a:srgbClr val="1F2937"/>
                </a:solidFill>
              </a:rPr>
              <a:t>Semente = 42</a:t>
            </a:r>
          </a:p>
          <a:p>
            <a:r>
              <a:rPr sz="1150">
                <a:solidFill>
                  <a:srgbClr val="1F2937"/>
                </a:solidFill>
              </a:rPr>
              <a:t>Saída limitada a [0, 255], arredondada e convertida para uint8.</a:t>
            </a:r>
          </a:p>
        </p:txBody>
      </p:sp>
      <p:sp>
        <p:nvSpPr>
          <p:cNvPr id="13" name="Shape 11"/>
          <p:cNvSpPr/>
          <p:nvPr/>
        </p:nvSpPr>
        <p:spPr>
          <a:xfrm>
            <a:off x="4956048" y="1371600"/>
            <a:ext cx="6537960" cy="3611880"/>
          </a:xfrm>
          <a:prstGeom prst="roundRect">
            <a:avLst>
              <a:gd name="adj" fmla="val 1519"/>
            </a:avLst>
          </a:prstGeom>
          <a:solidFill>
            <a:srgbClr val="13212E"/>
          </a:solidFill>
          <a:ln w="12700">
            <a:solidFill>
              <a:srgbClr val="1321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517904"/>
            <a:ext cx="62087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E8EEF4"/>
                </a:solidFill>
                <a:latin typeface="Consolas"/>
              </a:rPr>
              <a:t>gerador = np.random.default_rng(semente)</a:t>
            </a:r>
            <a:endParaRPr lang="en-US" sz="1050" dirty="0"/>
          </a:p>
          <a:p>
            <a:r>
              <a:rPr sz="1400">
                <a:solidFill>
                  <a:srgbClr val="E8EEF4"/>
                </a:solidFill>
                <a:latin typeface="Consolas"/>
              </a:rPr>
              <a:t>ruido = gerador.normal(</a:t>
            </a:r>
          </a:p>
          <a:p>
            <a:r>
              <a:rPr sz="1400">
                <a:solidFill>
                  <a:srgbClr val="E8EEF4"/>
                </a:solidFill>
                <a:latin typeface="Consolas"/>
              </a:rPr>
              <a:t>    loc=media, scale=sigma,</a:t>
            </a:r>
          </a:p>
          <a:p>
            <a:r>
              <a:rPr sz="1400">
                <a:solidFill>
                  <a:srgbClr val="E8EEF4"/>
                </a:solidFill>
                <a:latin typeface="Consolas"/>
              </a:rPr>
              <a:t>    size=imagem.shape</a:t>
            </a:r>
          </a:p>
          <a:p>
            <a:r>
              <a:rPr sz="1400">
                <a:solidFill>
                  <a:srgbClr val="E8EEF4"/>
                </a:solidFill>
                <a:latin typeface="Consolas"/>
              </a:rPr>
              <a:t>)</a:t>
            </a:r>
          </a:p>
          <a:p>
            <a:r>
              <a:rPr sz="1400">
                <a:solidFill>
                  <a:srgbClr val="E8EEF4"/>
                </a:solidFill>
                <a:latin typeface="Consolas"/>
              </a:rPr>
              <a:t>imagem_ruidosa = np.clip(</a:t>
            </a:r>
          </a:p>
          <a:p>
            <a:r>
              <a:rPr sz="1400">
                <a:solidFill>
                  <a:srgbClr val="E8EEF4"/>
                </a:solidFill>
                <a:latin typeface="Consolas"/>
              </a:rPr>
              <a:t>    imagem.astype(float) + ruido, 0, 255</a:t>
            </a:r>
          </a:p>
          <a:p>
            <a:r>
              <a:rPr sz="1400">
                <a:solidFill>
                  <a:srgbClr val="E8EEF4"/>
                </a:solidFill>
                <a:latin typeface="Consolas"/>
              </a:rPr>
              <a:t>)</a:t>
            </a:r>
          </a:p>
          <a:p>
            <a:r>
              <a:rPr sz="1400">
                <a:solidFill>
                  <a:srgbClr val="E8EEF4"/>
                </a:solidFill>
                <a:latin typeface="Consolas"/>
              </a:rPr>
              <a:t>return np.round(imagem_ruidosa).astype(np.uint8)</a:t>
            </a:r>
          </a:p>
        </p:txBody>
      </p:sp>
      <p:sp>
        <p:nvSpPr>
          <p:cNvPr id="15" name="Shape 13"/>
          <p:cNvSpPr/>
          <p:nvPr/>
        </p:nvSpPr>
        <p:spPr>
          <a:xfrm>
            <a:off x="4956048" y="5230368"/>
            <a:ext cx="65379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5230368"/>
            <a:ext cx="73152" cy="68580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5394960"/>
            <a:ext cx="6135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Por que “controlado”?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157216" y="5760720"/>
            <a:ext cx="613562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Mesmos parâmetros + semente fixa ⇒ experimento reproduzível e comparações mais justas.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324D"/>
                </a:solidFill>
                <a:latin typeface="Aptos Display"/>
              </a:rPr>
              <a:t>Operação pontual: equalização de histograma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67085"/>
                </a:solidFill>
              </a:rPr>
              <a:t>Etapa 4 · implementação própria · Gustavo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17548"/>
            <a:ext cx="3099816" cy="256032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7324D"/>
                </a:solidFill>
                <a:latin typeface="Aptos"/>
              </a:rPr>
              <a:t>Transformação de intensidade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971800" cy="777240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ctr">
            <a:noAutofit/>
          </a:bodyPr>
          <a:lstStyle/>
          <a:p>
            <a:r>
              <a:rPr sz="1250" b="0">
                <a:solidFill>
                  <a:srgbClr val="17324D"/>
                </a:solidFill>
                <a:latin typeface="Aptos"/>
              </a:rPr>
              <a:t>s = 255 · (CDF(r) − CDFmin) / (1 − CDFmin)</a:t>
            </a:r>
          </a:p>
          <a:p/>
          <a:p>
            <a:r>
              <a:rPr sz="1250" b="0">
                <a:solidFill>
                  <a:srgbClr val="17324D"/>
                </a:solidFill>
                <a:latin typeface="Aptos"/>
              </a:rPr>
              <a:t>Redistribui os tons ocupados para ampliar o contraste.</a:t>
            </a:r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717548"/>
            <a:ext cx="3099816" cy="256032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7324D"/>
                </a:solidFill>
                <a:latin typeface="Aptos"/>
              </a:rPr>
              <a:t>Implementação manual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286000"/>
            <a:ext cx="2971800" cy="868680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ctr">
            <a:noAutofit/>
          </a:bodyPr>
          <a:lstStyle/>
          <a:p>
            <a:r>
              <a:rPr sz="1200" b="0">
                <a:solidFill>
                  <a:srgbClr val="17324D"/>
                </a:solidFill>
                <a:latin typeface="Aptos"/>
              </a:rPr>
              <a:t>Histograma (256 níveis) → CDF acumulada → LUT.</a:t>
            </a:r>
          </a:p>
          <a:p/>
          <a:p>
            <a:r>
              <a:rPr sz="1200" b="0">
                <a:solidFill>
                  <a:srgbClr val="17324D"/>
                </a:solidFill>
                <a:latin typeface="Aptos"/>
              </a:rPr>
              <a:t>Imagem uniforme é devolvida sem alteração para evitar divisão por zero.</a:t>
            </a:r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717548"/>
            <a:ext cx="3099816" cy="256032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7324D"/>
                </a:solidFill>
                <a:latin typeface="Aptos"/>
              </a:rPr>
              <a:t>Decisão experimental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92440" y="2286000"/>
            <a:ext cx="2971800" cy="868680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ctr">
            <a:noAutofit/>
          </a:bodyPr>
          <a:lstStyle/>
          <a:p>
            <a:r>
              <a:rPr sz="1180" b="0">
                <a:solidFill>
                  <a:srgbClr val="17324D"/>
                </a:solidFill>
                <a:latin typeface="Aptos"/>
              </a:rPr>
              <a:t>Equalização usada nas duas pipelines.</a:t>
            </a:r>
          </a:p>
          <a:p/>
          <a:p>
            <a:r>
              <a:rPr sz="1180" b="0">
                <a:solidFill>
                  <a:srgbClr val="17324D"/>
                </a:solidFill>
                <a:latin typeface="Aptos"/>
              </a:rPr>
              <a:t>Correção gama também foi implementada, mas ficou fora da comparação final para que só a ordem mudasse.</a:t>
            </a:r>
          </a:p>
        </p:txBody>
      </p:sp>
      <p:sp>
        <p:nvSpPr>
          <p:cNvPr id="15" name="Shape 13"/>
          <p:cNvSpPr/>
          <p:nvPr/>
        </p:nvSpPr>
        <p:spPr>
          <a:xfrm>
            <a:off x="1051560" y="3886200"/>
            <a:ext cx="10058400" cy="1572768"/>
          </a:xfrm>
          <a:prstGeom prst="roundRect">
            <a:avLst>
              <a:gd name="adj" fmla="val 465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886200"/>
            <a:ext cx="73152" cy="1572768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4050792"/>
            <a:ext cx="9656064" cy="292608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ctr">
            <a:no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7324D"/>
                </a:solidFill>
                <a:latin typeface="Aptos"/>
              </a:rPr>
              <a:t>Trecho importante do código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52728" y="4416552"/>
            <a:ext cx="9656064" cy="877824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t">
            <a:noAutofit/>
          </a:bodyPr>
          <a:lstStyle/>
          <a:p>
            <a:pPr marL="0" indent="0">
              <a:buNone/>
            </a:pPr>
            <a:r>
              <a:rPr sz="1130" b="0">
                <a:solidFill>
                  <a:srgbClr val="17324D"/>
                </a:solidFill>
                <a:latin typeface="Consolas"/>
              </a:rPr>
              <a:t>minima = acumulada[h &gt; 0][0]</a:t>
            </a:r>
            <a:br/>
            <a:r>
              <a:rPr sz="1130" b="0">
                <a:solidFill>
                  <a:srgbClr val="17324D"/>
                </a:solidFill>
                <a:latin typeface="Consolas"/>
              </a:rPr>
              <a:t>tabela = np.round(255 * (acumulada - minima) / (1 - minima))</a:t>
            </a:r>
            <a:br/>
            <a:r>
              <a:rPr sz="1130" b="0">
                <a:solidFill>
                  <a:srgbClr val="17324D"/>
                </a:solidFill>
                <a:latin typeface="Consolas"/>
              </a:rPr>
              <a:t>tabela = np.clip(tabela, 0, 255).astype(np.uint8)</a:t>
            </a:r>
            <a:br/>
            <a:r>
              <a:rPr sz="1130" b="0">
                <a:solidFill>
                  <a:srgbClr val="17324D"/>
                </a:solidFill>
                <a:latin typeface="Consolas"/>
              </a:rPr>
              <a:t>return tabela[img]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Convolução 2D manual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Base reutilizada pela suavização e também pelo aguçamento.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b="1">
                <a:solidFill>
                  <a:srgbClr val="1E6F78"/>
                </a:solidFill>
              </a:rPr>
              <a:t>KERNEL GAUSSIANO 5×5 · σ = 1.0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1664208"/>
            <a:ext cx="566928" cy="566928"/>
          </a:xfrm>
          <a:prstGeom prst="rect">
            <a:avLst/>
          </a:prstGeom>
          <a:solidFill>
            <a:srgbClr val="F3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0.003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389888" y="1664208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956816" y="1664208"/>
            <a:ext cx="566928" cy="566928"/>
          </a:xfrm>
          <a:prstGeom prst="rect">
            <a:avLst/>
          </a:prstGeom>
          <a:solidFill>
            <a:srgbClr val="E6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0.022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523744" y="1664208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090672" y="1664208"/>
            <a:ext cx="566928" cy="566928"/>
          </a:xfrm>
          <a:prstGeom prst="rect">
            <a:avLst/>
          </a:prstGeom>
          <a:solidFill>
            <a:srgbClr val="F3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0.003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2960" y="2231136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1389888" y="2231136"/>
            <a:ext cx="566928" cy="566928"/>
          </a:xfrm>
          <a:prstGeom prst="rect">
            <a:avLst/>
          </a:prstGeom>
          <a:solidFill>
            <a:srgbClr val="C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0.060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956816" y="2231136"/>
            <a:ext cx="566928" cy="566928"/>
          </a:xfrm>
          <a:prstGeom prst="rect">
            <a:avLst/>
          </a:prstGeom>
          <a:solidFill>
            <a:srgbClr val="B2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4248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0.098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523744" y="2231136"/>
            <a:ext cx="566928" cy="566928"/>
          </a:xfrm>
          <a:prstGeom prst="rect">
            <a:avLst/>
          </a:prstGeom>
          <a:solidFill>
            <a:srgbClr val="C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51176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0.060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090672" y="2231136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18104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22960" y="2798064"/>
            <a:ext cx="566928" cy="566928"/>
          </a:xfrm>
          <a:prstGeom prst="rect">
            <a:avLst/>
          </a:prstGeom>
          <a:solidFill>
            <a:srgbClr val="E6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0.022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389888" y="2798064"/>
            <a:ext cx="566928" cy="566928"/>
          </a:xfrm>
          <a:prstGeom prst="rect">
            <a:avLst/>
          </a:prstGeom>
          <a:solidFill>
            <a:srgbClr val="B2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0.098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1956816" y="2798064"/>
            <a:ext cx="566928" cy="566928"/>
          </a:xfrm>
          <a:prstGeom prst="rect">
            <a:avLst/>
          </a:prstGeom>
          <a:solidFill>
            <a:srgbClr val="87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84248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0.162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2523744" y="2798064"/>
            <a:ext cx="566928" cy="566928"/>
          </a:xfrm>
          <a:prstGeom prst="rect">
            <a:avLst/>
          </a:prstGeom>
          <a:solidFill>
            <a:srgbClr val="B2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51176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0.098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3090672" y="2798064"/>
            <a:ext cx="566928" cy="566928"/>
          </a:xfrm>
          <a:prstGeom prst="rect">
            <a:avLst/>
          </a:prstGeom>
          <a:solidFill>
            <a:srgbClr val="E6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18104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0.022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22960" y="3364992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389888" y="3364992"/>
            <a:ext cx="566928" cy="566928"/>
          </a:xfrm>
          <a:prstGeom prst="rect">
            <a:avLst/>
          </a:prstGeom>
          <a:solidFill>
            <a:srgbClr val="C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17320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0.060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1956816" y="3364992"/>
            <a:ext cx="566928" cy="566928"/>
          </a:xfrm>
          <a:prstGeom prst="rect">
            <a:avLst/>
          </a:prstGeom>
          <a:solidFill>
            <a:srgbClr val="B2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84248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0.098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2523744" y="3364992"/>
            <a:ext cx="566928" cy="566928"/>
          </a:xfrm>
          <a:prstGeom prst="rect">
            <a:avLst/>
          </a:prstGeom>
          <a:solidFill>
            <a:srgbClr val="C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51176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0.060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3090672" y="3364992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18104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822960" y="3931920"/>
            <a:ext cx="566928" cy="566928"/>
          </a:xfrm>
          <a:prstGeom prst="rect">
            <a:avLst/>
          </a:prstGeom>
          <a:solidFill>
            <a:srgbClr val="F3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0.003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1389888" y="3931920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7320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1956816" y="3931920"/>
            <a:ext cx="566928" cy="566928"/>
          </a:xfrm>
          <a:prstGeom prst="rect">
            <a:avLst/>
          </a:prstGeom>
          <a:solidFill>
            <a:srgbClr val="E6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84248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0.022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2523744" y="3931920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51176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3090672" y="3931920"/>
            <a:ext cx="566928" cy="566928"/>
          </a:xfrm>
          <a:prstGeom prst="rect">
            <a:avLst/>
          </a:prstGeom>
          <a:solidFill>
            <a:srgbClr val="F3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18104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0.003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1298448" y="4645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6F78"/>
                </a:solidFill>
              </a:rPr>
              <a:t>Σ kernel = 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251960" y="1417320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1527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818888" y="14081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Valida imagem 2D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 kernel ímpar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462272" y="1847088"/>
            <a:ext cx="0" cy="411480"/>
          </a:xfrm>
          <a:prstGeom prst="line">
            <a:avLst/>
          </a:prstGeom>
          <a:noFill/>
          <a:ln w="1778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251960" y="2258568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51960" y="23682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818888" y="22494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Converte para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float64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462272" y="2688336"/>
            <a:ext cx="0" cy="411480"/>
          </a:xfrm>
          <a:prstGeom prst="line">
            <a:avLst/>
          </a:prstGeom>
          <a:noFill/>
          <a:ln w="1778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251960" y="3099816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51960" y="32095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818888" y="30906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Rotaciona o kernel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em 180°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462272" y="3529584"/>
            <a:ext cx="0" cy="411480"/>
          </a:xfrm>
          <a:prstGeom prst="line">
            <a:avLst/>
          </a:prstGeom>
          <a:noFill/>
          <a:ln w="1778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251960" y="3941064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51960" y="40507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818888" y="3931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F2937"/>
                </a:solidFill>
              </a:rPr>
              <a:t>Padding edge</a:t>
            </a:r>
            <a:endParaRPr lang="en-US" sz="1200" dirty="0"/>
          </a:p>
          <a:p>
            <a:r>
              <a:rPr sz="1200">
                <a:solidFill>
                  <a:srgbClr val="1F2937"/>
                </a:solidFill>
              </a:rPr>
              <a:t>repete pixels da borda</a:t>
            </a:r>
          </a:p>
        </p:txBody>
      </p:sp>
      <p:sp>
        <p:nvSpPr>
          <p:cNvPr id="73" name="Shape 71"/>
          <p:cNvSpPr/>
          <p:nvPr/>
        </p:nvSpPr>
        <p:spPr>
          <a:xfrm>
            <a:off x="4462272" y="4370832"/>
            <a:ext cx="0" cy="411480"/>
          </a:xfrm>
          <a:prstGeom prst="line">
            <a:avLst/>
          </a:prstGeom>
          <a:noFill/>
          <a:ln w="1778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251960" y="4782312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51960" y="48920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818888" y="47731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Desliza, multiplica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 soma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818120" y="1417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18120" y="1417320"/>
            <a:ext cx="73152" cy="123444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19288" y="1581912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Saída em float64</a:t>
            </a:r>
            <a:endParaRPr lang="en-US" sz="1550" dirty="0"/>
          </a:p>
        </p:txBody>
      </p:sp>
      <p:sp>
        <p:nvSpPr>
          <p:cNvPr id="80" name="Text 78"/>
          <p:cNvSpPr/>
          <p:nvPr/>
        </p:nvSpPr>
        <p:spPr>
          <a:xfrm>
            <a:off x="8019288" y="1947672"/>
            <a:ext cx="29809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F2937"/>
                </a:solidFill>
              </a:rPr>
              <a:t>Laplaciano e Sobel podem gerar valores negativos antes do ajuste final; por isso a convolução retorna float64.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7818120" y="2907792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818120" y="2907792"/>
            <a:ext cx="73152" cy="1234440"/>
          </a:xfrm>
          <a:prstGeom prst="rect">
            <a:avLst/>
          </a:prstGeom>
          <a:solidFill>
            <a:srgbClr val="EAA43A"/>
          </a:solidFill>
          <a:ln w="12700">
            <a:solidFill>
              <a:srgbClr val="EAA43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19288" y="3072384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Implementação própria</a:t>
            </a:r>
            <a:endParaRPr lang="en-US" sz="1550" dirty="0"/>
          </a:p>
        </p:txBody>
      </p:sp>
      <p:sp>
        <p:nvSpPr>
          <p:cNvPr id="84" name="Text 82"/>
          <p:cNvSpPr/>
          <p:nvPr/>
        </p:nvSpPr>
        <p:spPr>
          <a:xfrm>
            <a:off x="8019288" y="3438144"/>
            <a:ext cx="29809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Sem cv2.filter2D, scipy.ndimage.convolve ou equivalentes.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7818120" y="4407408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18120" y="4407408"/>
            <a:ext cx="73152" cy="1234440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19288" y="45720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Reutilização</a:t>
            </a:r>
            <a:endParaRPr lang="en-US" sz="1550" dirty="0"/>
          </a:p>
        </p:txBody>
      </p:sp>
      <p:sp>
        <p:nvSpPr>
          <p:cNvPr id="88" name="Text 86"/>
          <p:cNvSpPr/>
          <p:nvPr/>
        </p:nvSpPr>
        <p:spPr>
          <a:xfrm>
            <a:off x="8019288" y="4937760"/>
            <a:ext cx="29809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1F2937"/>
                </a:solidFill>
              </a:rPr>
              <a:t>A mesma conv2d_float é chamada no Gaussiano e no código de aguçamento do João. O padding edge evita bordas artificiais.</a:t>
            </a:r>
            <a:endParaRPr lang="en-US" sz="115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Suavização: Gaussiano × Mediana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67085"/>
                </a:solidFill>
              </a:rPr>
              <a:t>Etapa 5 · Gaussiano usado nas pipelines finais; mediana mantida como comparação.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30368" cy="3337560"/>
          </a:xfrm>
          <a:prstGeom prst="roundRect">
            <a:avLst>
              <a:gd name="adj" fmla="val 219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333756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819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Filtro Gaussiano 5×5 · σ = 1.0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1947672"/>
            <a:ext cx="4828032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1F2937"/>
                </a:solidFill>
              </a:rPr>
              <a:t>• Kernel gerado pela distribuição Gaussiana e normalizado.</a:t>
            </a:r>
            <a:endParaRPr lang="en-US" sz="1150" dirty="0"/>
          </a:p>
          <a:p>
            <a:endParaRPr lang="en-US" sz="1150" dirty="0"/>
          </a:p>
          <a:p>
            <a:r>
              <a:rPr sz="1300">
                <a:solidFill>
                  <a:srgbClr val="1F2937"/>
                </a:solidFill>
              </a:rPr>
              <a:t>• Média ponderada: maior peso para pixels próximos ao centro.</a:t>
            </a:r>
          </a:p>
          <a:p>
            <a:endParaRPr sz="1300">
              <a:solidFill>
                <a:srgbClr val="1F2937"/>
              </a:solidFill>
            </a:endParaRPr>
          </a:p>
          <a:p>
            <a:r>
              <a:rPr sz="1300">
                <a:solidFill>
                  <a:srgbClr val="1F2937"/>
                </a:solidFill>
              </a:rPr>
              <a:t>• Aplicado pela convolução 2D manual.</a:t>
            </a:r>
          </a:p>
          <a:p>
            <a:endParaRPr sz="1300">
              <a:solidFill>
                <a:srgbClr val="1F2937"/>
              </a:solidFill>
            </a:endParaRPr>
          </a:p>
          <a:p>
            <a:r>
              <a:rPr sz="1300">
                <a:solidFill>
                  <a:srgbClr val="1F2937"/>
                </a:solidFill>
              </a:rPr>
              <a:t>• Escolhido para as pipelines finais por ser adequado ao ruído Gaussiano inserido.</a:t>
            </a:r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230368" cy="3337560"/>
          </a:xfrm>
          <a:prstGeom prst="roundRect">
            <a:avLst>
              <a:gd name="adj" fmla="val 2192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17320"/>
            <a:ext cx="73152" cy="3337560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5819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Filtro de mediana 3×3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1947672"/>
            <a:ext cx="4828032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1F2937"/>
                </a:solidFill>
              </a:rPr>
              <a:t>• Não usa convolução.</a:t>
            </a:r>
            <a:endParaRPr lang="en-US" sz="1150" dirty="0"/>
          </a:p>
          <a:p>
            <a:endParaRPr lang="en-US" sz="1150" dirty="0"/>
          </a:p>
          <a:p>
            <a:r>
              <a:rPr sz="1300">
                <a:solidFill>
                  <a:srgbClr val="1F2937"/>
                </a:solidFill>
              </a:rPr>
              <a:t>• Ordena os 9 valores da vizinhança e escolhe o valor central.</a:t>
            </a:r>
          </a:p>
          <a:p>
            <a:endParaRPr sz="1300">
              <a:solidFill>
                <a:srgbClr val="1F2937"/>
              </a:solidFill>
            </a:endParaRPr>
          </a:p>
          <a:p>
            <a:r>
              <a:rPr sz="1300">
                <a:solidFill>
                  <a:srgbClr val="1F2937"/>
                </a:solidFill>
              </a:rPr>
              <a:t>• Padding “edge”: repete pixels próximos da borda.</a:t>
            </a:r>
          </a:p>
          <a:p>
            <a:endParaRPr sz="1300">
              <a:solidFill>
                <a:srgbClr val="1F2937"/>
              </a:solidFill>
            </a:endParaRPr>
          </a:p>
          <a:p>
            <a:r>
              <a:rPr sz="1300">
                <a:solidFill>
                  <a:srgbClr val="1F2937"/>
                </a:solidFill>
              </a:rPr>
              <a:t>• Implementado e comparado isoladamente; não entrou nas pipelines finais.</a:t>
            </a:r>
          </a:p>
        </p:txBody>
      </p:sp>
      <p:sp>
        <p:nvSpPr>
          <p:cNvPr id="14" name="Shape 12"/>
          <p:cNvSpPr/>
          <p:nvPr/>
        </p:nvSpPr>
        <p:spPr>
          <a:xfrm>
            <a:off x="5971032" y="1645920"/>
            <a:ext cx="0" cy="2880360"/>
          </a:xfrm>
          <a:prstGeom prst="line">
            <a:avLst/>
          </a:prstGeom>
          <a:noFill/>
          <a:ln w="15240">
            <a:solidFill>
              <a:srgbClr val="C9D3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5296" y="5074920"/>
            <a:ext cx="9738360" cy="749808"/>
          </a:xfrm>
          <a:prstGeom prst="roundRect">
            <a:avLst>
              <a:gd name="adj" fmla="val 9756"/>
            </a:avLst>
          </a:prstGeom>
          <a:solidFill>
            <a:srgbClr val="D9EEEC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5074920"/>
            <a:ext cx="73152" cy="749808"/>
          </a:xfrm>
          <a:prstGeom prst="rect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6464" y="5239512"/>
            <a:ext cx="9336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Decisão técnica final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26464" y="5605272"/>
            <a:ext cx="93360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1F2937"/>
                </a:solidFill>
              </a:rPr>
              <a:t>O Gaussiano foi mantido nas duas pipelines para reduzir o ruído artificial Gaussiano; a mediana ficou como comparação de técnica.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Aguçamento e métricas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67085"/>
                </a:solidFill>
              </a:rPr>
              <a:t>High-Boost como saída final · PSNR e SSIM para avaliação quantitativa.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1754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667085"/>
                </a:solidFill>
              </a:rPr>
              <a:t>High-Boost · k = 1,5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0392" y="2409444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8A94A0"/>
                </a:solidFill>
              </a:rPr>
              <a:t>saída = f + k · (f − borrada)</a:t>
            </a:r>
            <a:endParaRPr lang="en-US" sz="950" dirty="0"/>
          </a:p>
          <a:p>
            <a:pPr algn="ctr"/>
            <a:endParaRPr lang="en-US" sz="950" dirty="0"/>
          </a:p>
          <a:p>
            <a:pPr algn="ctr"/>
            <a:r>
              <a:rPr sz="1200">
                <a:solidFill>
                  <a:srgbClr val="8A94A0"/>
                </a:solidFill>
              </a:rPr>
              <a:t>Borramento interno: Gaussiano 3×3, σ = 1.</a:t>
            </a:r>
          </a:p>
          <a:p>
            <a:pPr algn="ctr"/>
            <a:r>
              <a:rPr sz="1200">
                <a:solidFill>
                  <a:srgbClr val="8A94A0"/>
                </a:solidFill>
              </a:rPr>
              <a:t>Realça detalhes mantendo a imagem completa.</a:t>
            </a:r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71754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667085"/>
                </a:solidFill>
              </a:rPr>
              <a:t>Resultado do aguçamento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53712" y="2409444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8A94A0"/>
                </a:solidFill>
              </a:rPr>
              <a:t>Não é apenas mapa de bordas.</a:t>
            </a:r>
            <a:endParaRPr lang="en-US" sz="950" dirty="0"/>
          </a:p>
          <a:p>
            <a:pPr algn="ctr"/>
            <a:endParaRPr lang="en-US" sz="950" dirty="0"/>
          </a:p>
          <a:p>
            <a:pPr algn="ctr"/>
            <a:r>
              <a:rPr sz="1200">
                <a:solidFill>
                  <a:srgbClr val="8A94A0"/>
                </a:solidFill>
              </a:rPr>
              <a:t>Sobel e Laplaciano também foram implementados para análise e validação.</a:t>
            </a:r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71754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667085"/>
                </a:solidFill>
              </a:rPr>
              <a:t>PSNR + SSIM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57032" y="2409444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8A94A0"/>
                </a:solidFill>
              </a:rPr>
              <a:t>PSNR: erro de intensidade; maior é melhor.</a:t>
            </a:r>
            <a:endParaRPr lang="en-US" sz="950" dirty="0"/>
          </a:p>
          <a:p>
            <a:pPr algn="ctr"/>
            <a:endParaRPr lang="en-US" sz="950" dirty="0"/>
          </a:p>
          <a:p>
            <a:pPr algn="ctr"/>
            <a:r>
              <a:rPr sz="1200">
                <a:solidFill>
                  <a:srgbClr val="8A94A0"/>
                </a:solidFill>
              </a:rPr>
              <a:t>SSIM: preservação estrutural; 1 = imagens idênticas.</a:t>
            </a:r>
          </a:p>
        </p:txBody>
      </p:sp>
      <p:sp>
        <p:nvSpPr>
          <p:cNvPr id="15" name="Shape 13"/>
          <p:cNvSpPr/>
          <p:nvPr/>
        </p:nvSpPr>
        <p:spPr>
          <a:xfrm>
            <a:off x="1051560" y="3886200"/>
            <a:ext cx="10058400" cy="1572768"/>
          </a:xfrm>
          <a:prstGeom prst="roundRect">
            <a:avLst>
              <a:gd name="adj" fmla="val 465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886200"/>
            <a:ext cx="73152" cy="1572768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4050792"/>
            <a:ext cx="9656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Integração validada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52728" y="4416552"/>
            <a:ext cx="965606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1F2937"/>
                </a:solidFill>
              </a:rPr>
              <a:t>A mesma conv2d_float é reutilizada no Gaussiano e no High-Boost. O padding edge evita bordas artificiais; o Sobel foi validado em teste sintético.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Configuração 1 × Configuração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67085"/>
                </a:solidFill>
              </a:rPr>
              <a:t>Mesmas técnicas e parâmetros; somente a ordem das etapas muda.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46920" y="402336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20072" y="448056"/>
            <a:ext cx="17739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EAA43A"/>
                </a:solidFill>
              </a:rPr>
              <a:t>PIPELINES FINAIS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81328"/>
            <a:ext cx="73152" cy="3246120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64592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Pipeline 1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78408" y="2011680"/>
            <a:ext cx="4672584" cy="2551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1F2937"/>
                </a:solidFill>
              </a:rPr>
              <a:t>Ruído Gaussiano</a:t>
            </a:r>
            <a:endParaRPr lang="en-US" sz="1150" dirty="0"/>
          </a:p>
          <a:p>
            <a:r>
              <a:rPr sz="1600">
                <a:solidFill>
                  <a:srgbClr val="1F2937"/>
                </a:solidFill>
              </a:rPr>
              <a:t>↓</a:t>
            </a:r>
          </a:p>
          <a:p>
            <a:r>
              <a:rPr sz="1600">
                <a:solidFill>
                  <a:srgbClr val="1F2937"/>
                </a:solidFill>
              </a:rPr>
              <a:t>Equalização</a:t>
            </a:r>
          </a:p>
          <a:p>
            <a:r>
              <a:rPr sz="1600">
                <a:solidFill>
                  <a:srgbClr val="1F2937"/>
                </a:solidFill>
              </a:rPr>
              <a:t>↓</a:t>
            </a:r>
          </a:p>
          <a:p>
            <a:r>
              <a:rPr sz="1600">
                <a:solidFill>
                  <a:srgbClr val="1F2937"/>
                </a:solidFill>
              </a:rPr>
              <a:t>Gaussiano 5×5</a:t>
            </a:r>
          </a:p>
          <a:p>
            <a:r>
              <a:rPr sz="1600">
                <a:solidFill>
                  <a:srgbClr val="1F2937"/>
                </a:solidFill>
              </a:rPr>
              <a:t>↓</a:t>
            </a:r>
          </a:p>
          <a:p>
            <a:r>
              <a:rPr sz="1600">
                <a:solidFill>
                  <a:srgbClr val="1F2937"/>
                </a:solidFill>
              </a:rPr>
              <a:t>High-Boost</a:t>
            </a:r>
          </a:p>
        </p:txBody>
      </p:sp>
      <p:sp>
        <p:nvSpPr>
          <p:cNvPr id="10" name="Shape 8"/>
          <p:cNvSpPr/>
          <p:nvPr/>
        </p:nvSpPr>
        <p:spPr>
          <a:xfrm>
            <a:off x="6327648" y="1481328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481328"/>
            <a:ext cx="73152" cy="3246120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64592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Pipeline 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28816" y="2011680"/>
            <a:ext cx="4672584" cy="2551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1F2937"/>
                </a:solidFill>
              </a:rPr>
              <a:t>Ruído Gaussiano</a:t>
            </a:r>
            <a:endParaRPr lang="en-US" sz="1150" dirty="0"/>
          </a:p>
          <a:p>
            <a:r>
              <a:rPr sz="1600">
                <a:solidFill>
                  <a:srgbClr val="1F2937"/>
                </a:solidFill>
              </a:rPr>
              <a:t>↓</a:t>
            </a:r>
          </a:p>
          <a:p>
            <a:r>
              <a:rPr sz="1600">
                <a:solidFill>
                  <a:srgbClr val="1F2937"/>
                </a:solidFill>
              </a:rPr>
              <a:t>High-Boost</a:t>
            </a:r>
          </a:p>
          <a:p>
            <a:r>
              <a:rPr sz="1600">
                <a:solidFill>
                  <a:srgbClr val="1F2937"/>
                </a:solidFill>
              </a:rPr>
              <a:t>↓</a:t>
            </a:r>
          </a:p>
          <a:p>
            <a:r>
              <a:rPr sz="1600">
                <a:solidFill>
                  <a:srgbClr val="1F2937"/>
                </a:solidFill>
              </a:rPr>
              <a:t>Gaussiano 5×5</a:t>
            </a:r>
          </a:p>
          <a:p>
            <a:r>
              <a:rPr sz="1600">
                <a:solidFill>
                  <a:srgbClr val="1F2937"/>
                </a:solidFill>
              </a:rPr>
              <a:t>↓</a:t>
            </a:r>
          </a:p>
          <a:p>
            <a:r>
              <a:rPr sz="1600">
                <a:solidFill>
                  <a:srgbClr val="1F2937"/>
                </a:solidFill>
              </a:rPr>
              <a:t>Equalização</a:t>
            </a:r>
          </a:p>
        </p:txBody>
      </p:sp>
      <p:sp>
        <p:nvSpPr>
          <p:cNvPr id="14" name="Text 12"/>
          <p:cNvSpPr/>
          <p:nvPr/>
        </p:nvSpPr>
        <p:spPr>
          <a:xfrm>
            <a:off x="1051560" y="523036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17324D"/>
                </a:solidFill>
              </a:rPr>
              <a:t>Ao controlar técnicas e parâmetros, qualquer diferença final é atribuída à ordem das etapas.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ctr">
            <a:noAutofit/>
          </a:bodyPr>
          <a:lstStyle/>
          <a:p>
            <a:r>
              <a:rPr sz="2500" b="1">
                <a:solidFill>
                  <a:srgbClr val="17324D"/>
                </a:solidFill>
                <a:latin typeface="Aptos Display"/>
              </a:rPr>
              <a:t>Comparação visual dos resultados</a:t>
            </a:r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36576" tIns="27432" rIns="36576" bIns="27432" rtlCol="0" anchor="ctr">
            <a:noAutofit/>
          </a:bodyPr>
          <a:lstStyle/>
          <a:p>
            <a:r>
              <a:rPr sz="1150" b="0">
                <a:solidFill>
                  <a:srgbClr val="667085"/>
                </a:solidFill>
                <a:latin typeface="Aptos"/>
              </a:rPr>
              <a:t>Original em tons de cinza → degradada por ruído Gaussiano → resultados finais das duas configurações.</a:t>
            </a:r>
          </a:p>
        </p:txBody>
      </p:sp>
      <p:sp>
        <p:nvSpPr>
          <p:cNvPr id="6" name="Text 4"/>
          <p:cNvSpPr/>
          <p:nvPr/>
        </p:nvSpPr>
        <p:spPr>
          <a:xfrm>
            <a:off x="208483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7324D"/>
                </a:solidFill>
              </a:rPr>
              <a:t>Original</a:t>
            </a:r>
            <a:br/>
            <a:r>
              <a:rPr sz="1050" b="1">
                <a:solidFill>
                  <a:srgbClr val="17324D"/>
                </a:solidFill>
              </a:rPr>
              <a:t>(tons de cinza)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2511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Degradada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6539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Config.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0567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Config.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17556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F2937"/>
                </a:solidFill>
              </a:rPr>
              <a:t>ISIC_0014049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96596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081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F2937"/>
                </a:solidFill>
              </a:rPr>
              <a:t>ISIC_7236365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96596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4074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F2937"/>
                </a:solidFill>
              </a:rPr>
              <a:t>ISIC_0021531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196596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652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8680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10</a:t>
            </a:r>
          </a:p>
        </p:txBody>
      </p:sp>
      <p:pic>
        <p:nvPicPr>
          <p:cNvPr id="53" name="Picture 52" descr="ISIC_0014049_original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137" y="1581912"/>
            <a:ext cx="1459597" cy="969264"/>
          </a:xfrm>
          <a:prstGeom prst="rect">
            <a:avLst/>
          </a:prstGeom>
        </p:spPr>
      </p:pic>
      <p:pic>
        <p:nvPicPr>
          <p:cNvPr id="54" name="Picture 53" descr="ISIC_0014049_degrad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417" y="1581912"/>
            <a:ext cx="1459597" cy="969264"/>
          </a:xfrm>
          <a:prstGeom prst="rect">
            <a:avLst/>
          </a:prstGeom>
        </p:spPr>
      </p:pic>
      <p:pic>
        <p:nvPicPr>
          <p:cNvPr id="55" name="Picture 54" descr="ISIC_0014049_con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697" y="1581912"/>
            <a:ext cx="1459597" cy="969264"/>
          </a:xfrm>
          <a:prstGeom prst="rect">
            <a:avLst/>
          </a:prstGeom>
        </p:spPr>
      </p:pic>
      <p:pic>
        <p:nvPicPr>
          <p:cNvPr id="56" name="Picture 55" descr="ISIC_0014049_confi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977" y="1581912"/>
            <a:ext cx="1459597" cy="969264"/>
          </a:xfrm>
          <a:prstGeom prst="rect">
            <a:avLst/>
          </a:prstGeom>
        </p:spPr>
      </p:pic>
      <p:pic>
        <p:nvPicPr>
          <p:cNvPr id="57" name="Picture 56" descr="ISIC_7236365_original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0760" y="2907791"/>
            <a:ext cx="1292352" cy="969264"/>
          </a:xfrm>
          <a:prstGeom prst="rect">
            <a:avLst/>
          </a:prstGeom>
        </p:spPr>
      </p:pic>
      <p:pic>
        <p:nvPicPr>
          <p:cNvPr id="58" name="Picture 57" descr="ISIC_7236365_degrada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1039" y="2907791"/>
            <a:ext cx="1292352" cy="969264"/>
          </a:xfrm>
          <a:prstGeom prst="rect">
            <a:avLst/>
          </a:prstGeom>
        </p:spPr>
      </p:pic>
      <p:pic>
        <p:nvPicPr>
          <p:cNvPr id="59" name="Picture 58" descr="ISIC_7236365_config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1320" y="2907791"/>
            <a:ext cx="1292352" cy="969264"/>
          </a:xfrm>
          <a:prstGeom prst="rect">
            <a:avLst/>
          </a:prstGeom>
        </p:spPr>
      </p:pic>
      <p:pic>
        <p:nvPicPr>
          <p:cNvPr id="60" name="Picture 59" descr="ISIC_7236365_config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600" y="2907791"/>
            <a:ext cx="1292352" cy="969264"/>
          </a:xfrm>
          <a:prstGeom prst="rect">
            <a:avLst/>
          </a:prstGeom>
        </p:spPr>
      </p:pic>
      <p:pic>
        <p:nvPicPr>
          <p:cNvPr id="61" name="Picture 60" descr="ISIC_0021531_original_gr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0760" y="4233672"/>
            <a:ext cx="1292352" cy="969264"/>
          </a:xfrm>
          <a:prstGeom prst="rect">
            <a:avLst/>
          </a:prstGeom>
        </p:spPr>
      </p:pic>
      <p:pic>
        <p:nvPicPr>
          <p:cNvPr id="62" name="Picture 61" descr="ISIC_0021531_degradad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1039" y="4233672"/>
            <a:ext cx="1292352" cy="969264"/>
          </a:xfrm>
          <a:prstGeom prst="rect">
            <a:avLst/>
          </a:prstGeom>
        </p:spPr>
      </p:pic>
      <p:pic>
        <p:nvPicPr>
          <p:cNvPr id="63" name="Picture 62" descr="ISIC_0021531_config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1320" y="4233672"/>
            <a:ext cx="1292352" cy="969264"/>
          </a:xfrm>
          <a:prstGeom prst="rect">
            <a:avLst/>
          </a:prstGeom>
        </p:spPr>
      </p:pic>
      <p:pic>
        <p:nvPicPr>
          <p:cNvPr id="64" name="Picture 63" descr="ISIC_0021531_config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1600" y="4233672"/>
            <a:ext cx="1292352" cy="969264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005840" y="560527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/>
              <a:t>A Configuração 1 preservou melhor o resultado final nas três imagens; a Configuração 2 ficou mais saturada e granulada após a equalização final.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Resultados quantitativos</a:t>
            </a:r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 dirty="0">
                <a:solidFill>
                  <a:srgbClr val="667085"/>
                </a:solidFill>
              </a:rPr>
              <a:t>PSNR (dB) / SSIM com a </a:t>
            </a:r>
            <a:r>
              <a:rPr sz="1150" dirty="0" err="1">
                <a:solidFill>
                  <a:srgbClr val="667085"/>
                </a:solidFill>
              </a:rPr>
              <a:t>imagem</a:t>
            </a:r>
            <a:r>
              <a:rPr sz="1150" dirty="0">
                <a:solidFill>
                  <a:srgbClr val="667085"/>
                </a:solidFill>
              </a:rPr>
              <a:t> original </a:t>
            </a:r>
            <a:r>
              <a:rPr sz="1150" dirty="0" err="1">
                <a:solidFill>
                  <a:srgbClr val="667085"/>
                </a:solidFill>
              </a:rPr>
              <a:t>sem</a:t>
            </a:r>
            <a:r>
              <a:rPr sz="1150" dirty="0">
                <a:solidFill>
                  <a:srgbClr val="667085"/>
                </a:solidFill>
              </a:rPr>
              <a:t> </a:t>
            </a:r>
            <a:r>
              <a:rPr sz="1150" dirty="0" err="1">
                <a:solidFill>
                  <a:srgbClr val="667085"/>
                </a:solidFill>
              </a:rPr>
              <a:t>ruído</a:t>
            </a:r>
            <a:r>
              <a:rPr sz="1150" dirty="0">
                <a:solidFill>
                  <a:srgbClr val="667085"/>
                </a:solidFill>
              </a:rPr>
              <a:t> </a:t>
            </a:r>
            <a:r>
              <a:rPr sz="1150" dirty="0" err="1">
                <a:solidFill>
                  <a:srgbClr val="667085"/>
                </a:solidFill>
              </a:rPr>
              <a:t>como</a:t>
            </a:r>
            <a:r>
              <a:rPr sz="1150" dirty="0">
                <a:solidFill>
                  <a:srgbClr val="667085"/>
                </a:solidFill>
              </a:rPr>
              <a:t> </a:t>
            </a:r>
            <a:r>
              <a:rPr sz="1150" dirty="0" err="1">
                <a:solidFill>
                  <a:srgbClr val="667085"/>
                </a:solidFill>
              </a:rPr>
              <a:t>referência</a:t>
            </a:r>
            <a:r>
              <a:rPr sz="1150" dirty="0">
                <a:solidFill>
                  <a:srgbClr val="667085"/>
                </a:solidFill>
              </a:rPr>
              <a:t>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08483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Original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2511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Degradada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6539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Config.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0567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Config.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17556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F2937"/>
                </a:solidFill>
              </a:rPr>
              <a:t>ISIC_0014049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96596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8105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PSNR = ∞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30552" y="2121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1,000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18105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24,60 dB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70832" y="2121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0,240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8105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17,51 dB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1112" y="2121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0,119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8680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1392" y="18105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11,22 dB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851392" y="2121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0,038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" y="3081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F2937"/>
                </a:solidFill>
              </a:rPr>
              <a:t>ISIC_7236365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96596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0552" y="3136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PSNR = ∞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130552" y="344728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1,000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0624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136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24,61 dB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370832" y="344728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0,401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4652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136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15,52 dB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611112" y="344728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0,513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8680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51392" y="3136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14,85 dB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851392" y="344728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0,473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" y="44074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F2937"/>
                </a:solidFill>
              </a:rPr>
              <a:t>ISIC_0021531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196596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30552" y="4462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PSNR = ∞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130552" y="47731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1,000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0624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4462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24,60 dB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370832" y="47731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0,232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4652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4462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14,10 dB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611112" y="47731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0,168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68680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51392" y="4462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00" b="1" dirty="0">
                <a:solidFill>
                  <a:srgbClr val="667085"/>
                </a:solidFill>
              </a:rPr>
              <a:t>11,98 dB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851392" y="47731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00" dirty="0">
                <a:solidFill>
                  <a:srgbClr val="8A94A0"/>
                </a:solidFill>
              </a:rPr>
              <a:t>SSIM = 0,113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05840" y="5605272"/>
            <a:ext cx="10195560" cy="475488"/>
          </a:xfrm>
          <a:prstGeom prst="roundRect">
            <a:avLst>
              <a:gd name="adj" fmla="val 15385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0432" y="5586984"/>
            <a:ext cx="9866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350" b="1" dirty="0" err="1">
                <a:solidFill>
                  <a:srgbClr val="667085"/>
                </a:solidFill>
              </a:rPr>
              <a:t>Melhor</a:t>
            </a:r>
            <a:r>
              <a:rPr sz="1350" b="1" dirty="0">
                <a:solidFill>
                  <a:srgbClr val="667085"/>
                </a:solidFill>
              </a:rPr>
              <a:t> </a:t>
            </a:r>
            <a:r>
              <a:rPr sz="1350" b="1" dirty="0" err="1">
                <a:solidFill>
                  <a:srgbClr val="667085"/>
                </a:solidFill>
              </a:rPr>
              <a:t>estágio</a:t>
            </a:r>
            <a:r>
              <a:rPr sz="1350" b="1" dirty="0">
                <a:solidFill>
                  <a:srgbClr val="667085"/>
                </a:solidFill>
              </a:rPr>
              <a:t> </a:t>
            </a:r>
            <a:r>
              <a:rPr sz="1350" b="1" dirty="0" err="1">
                <a:solidFill>
                  <a:srgbClr val="667085"/>
                </a:solidFill>
              </a:rPr>
              <a:t>intermediário</a:t>
            </a:r>
            <a:endParaRPr lang="en-US" sz="1350" dirty="0" err="1"/>
          </a:p>
        </p:txBody>
      </p:sp>
      <p:sp>
        <p:nvSpPr>
          <p:cNvPr id="51" name="Text 49"/>
          <p:cNvSpPr/>
          <p:nvPr/>
        </p:nvSpPr>
        <p:spPr>
          <a:xfrm>
            <a:off x="1170432" y="5897880"/>
            <a:ext cx="9866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100" dirty="0">
                <a:solidFill>
                  <a:srgbClr val="8A94A0"/>
                </a:solidFill>
              </a:rPr>
              <a:t>Pipeline 2 </a:t>
            </a:r>
            <a:r>
              <a:rPr sz="1100" dirty="0" err="1">
                <a:solidFill>
                  <a:srgbClr val="8A94A0"/>
                </a:solidFill>
              </a:rPr>
              <a:t>após</a:t>
            </a:r>
            <a:r>
              <a:rPr sz="1100" dirty="0">
                <a:solidFill>
                  <a:srgbClr val="8A94A0"/>
                </a:solidFill>
              </a:rPr>
              <a:t> o </a:t>
            </a:r>
            <a:r>
              <a:rPr sz="1100" dirty="0" err="1">
                <a:solidFill>
                  <a:srgbClr val="8A94A0"/>
                </a:solidFill>
              </a:rPr>
              <a:t>Gaussiano</a:t>
            </a:r>
            <a:r>
              <a:rPr sz="1100" dirty="0">
                <a:solidFill>
                  <a:srgbClr val="8A94A0"/>
                </a:solidFill>
              </a:rPr>
              <a:t>: PSNR 32,55 / 31,25 / 32,64 dB · SSIM 0,679 / 0,767 / 0,677.</a:t>
            </a:r>
            <a:endParaRPr lang="en-US" sz="9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Análise, discussão e conclusão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67085"/>
                </a:solidFill>
              </a:rPr>
              <a:t>A ordem das etapas alterou significativamente o resultado, mesmo com técnicas e parâmetros idênticos.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73152" cy="361188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67335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1 · Resultado por imagem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78408" y="2039112"/>
            <a:ext cx="299923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F2937"/>
                </a:solidFill>
              </a:rPr>
              <a:t>ISIC_0014049</a:t>
            </a:r>
            <a:endParaRPr lang="en-US" sz="1150" dirty="0"/>
          </a:p>
          <a:p>
            <a:r>
              <a:rPr sz="1200">
                <a:solidFill>
                  <a:srgbClr val="1F2937"/>
                </a:solidFill>
              </a:rPr>
              <a:t>→ Pipeline 1</a:t>
            </a:r>
          </a:p>
          <a:p>
            <a:endParaRPr sz="1200">
              <a:solidFill>
                <a:srgbClr val="1F2937"/>
              </a:solidFill>
            </a:endParaRPr>
          </a:p>
          <a:p>
            <a:r>
              <a:rPr sz="1200">
                <a:solidFill>
                  <a:srgbClr val="1F2937"/>
                </a:solidFill>
              </a:rPr>
              <a:t>ISIC_7236365</a:t>
            </a:r>
          </a:p>
          <a:p>
            <a:r>
              <a:rPr sz="1200">
                <a:solidFill>
                  <a:srgbClr val="1F2937"/>
                </a:solidFill>
              </a:rPr>
              <a:t>→ Pipeline 1</a:t>
            </a:r>
          </a:p>
          <a:p>
            <a:endParaRPr sz="1200">
              <a:solidFill>
                <a:srgbClr val="1F2937"/>
              </a:solidFill>
            </a:endParaRPr>
          </a:p>
          <a:p>
            <a:r>
              <a:rPr sz="1200">
                <a:solidFill>
                  <a:srgbClr val="1F2937"/>
                </a:solidFill>
              </a:rPr>
              <a:t>ISIC_0021531</a:t>
            </a:r>
          </a:p>
          <a:p>
            <a:r>
              <a:rPr sz="1200">
                <a:solidFill>
                  <a:srgbClr val="1F2937"/>
                </a:solidFill>
              </a:rPr>
              <a:t>→ Pipeline 1</a:t>
            </a:r>
          </a:p>
          <a:p>
            <a:endParaRPr sz="1200">
              <a:solidFill>
                <a:srgbClr val="1F2937"/>
              </a:solidFill>
            </a:endParaRPr>
          </a:p>
          <a:p>
            <a:r>
              <a:rPr sz="1200">
                <a:solidFill>
                  <a:srgbClr val="1F2937"/>
                </a:solidFill>
              </a:rPr>
              <a:t>Pipeline 1 venceu em PSNR e SSIM.</a:t>
            </a:r>
          </a:p>
        </p:txBody>
      </p:sp>
      <p:sp>
        <p:nvSpPr>
          <p:cNvPr id="10" name="Shape 8"/>
          <p:cNvSpPr/>
          <p:nvPr/>
        </p:nvSpPr>
        <p:spPr>
          <a:xfrm>
            <a:off x="4407408" y="150876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508760"/>
            <a:ext cx="73152" cy="3611880"/>
          </a:xfrm>
          <a:prstGeom prst="rect">
            <a:avLst/>
          </a:prstGeom>
          <a:solidFill>
            <a:srgbClr val="EAA43A"/>
          </a:solidFill>
          <a:ln w="12700">
            <a:solidFill>
              <a:srgbClr val="EAA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7335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2 · Por que a ordem importa?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8576" y="2039112"/>
            <a:ext cx="299923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F2937"/>
                </a:solidFill>
              </a:rPr>
              <a:t>Equalizar cedo amplifica ruído, mas o Gaussiano ainda corrige parte.</a:t>
            </a:r>
            <a:endParaRPr lang="en-US" sz="1150" dirty="0"/>
          </a:p>
          <a:p>
            <a:endParaRPr lang="en-US" sz="1150" dirty="0"/>
          </a:p>
          <a:p>
            <a:r>
              <a:rPr sz="1200">
                <a:solidFill>
                  <a:srgbClr val="1F2937"/>
                </a:solidFill>
              </a:rPr>
              <a:t>Aguçar antes de suavizar é ineficiente.</a:t>
            </a:r>
          </a:p>
          <a:p>
            <a:endParaRPr sz="1200">
              <a:solidFill>
                <a:srgbClr val="1F2937"/>
              </a:solidFill>
            </a:endParaRPr>
          </a:p>
          <a:p>
            <a:r>
              <a:rPr sz="1200">
                <a:solidFill>
                  <a:srgbClr val="1F2937"/>
                </a:solidFill>
              </a:rPr>
              <a:t>Equalizar no final deixa o ruído amplificado sem etapa posterior.</a:t>
            </a:r>
          </a:p>
        </p:txBody>
      </p:sp>
      <p:sp>
        <p:nvSpPr>
          <p:cNvPr id="14" name="Shape 12"/>
          <p:cNvSpPr/>
          <p:nvPr/>
        </p:nvSpPr>
        <p:spPr>
          <a:xfrm>
            <a:off x="8037576" y="150876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7576" y="1508760"/>
            <a:ext cx="73152" cy="3611880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67335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3 · Limitações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38744" y="2039112"/>
            <a:ext cx="299923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F2937"/>
                </a:solidFill>
              </a:rPr>
              <a:t>PSNR/SSIM medem fidelidade, não visibilidade clínica.</a:t>
            </a:r>
            <a:endParaRPr lang="en-US" sz="1150" dirty="0"/>
          </a:p>
          <a:p>
            <a:endParaRPr lang="en-US" sz="1150" dirty="0"/>
          </a:p>
          <a:p>
            <a:r>
              <a:rPr sz="1200">
                <a:solidFill>
                  <a:srgbClr val="1F2937"/>
                </a:solidFill>
              </a:rPr>
              <a:t>Parâmetros fixos não são ideais para todas as imagens.</a:t>
            </a:r>
          </a:p>
          <a:p>
            <a:endParaRPr sz="1200">
              <a:solidFill>
                <a:srgbClr val="1F2937"/>
              </a:solidFill>
            </a:endParaRPr>
          </a:p>
          <a:p>
            <a:r>
              <a:rPr sz="1200">
                <a:solidFill>
                  <a:srgbClr val="1F2937"/>
                </a:solidFill>
              </a:rPr>
              <a:t>Redimensionar para 1024 px suaviza levemente.</a:t>
            </a:r>
          </a:p>
        </p:txBody>
      </p:sp>
      <p:sp>
        <p:nvSpPr>
          <p:cNvPr id="18" name="Text 16"/>
          <p:cNvSpPr/>
          <p:nvPr/>
        </p:nvSpPr>
        <p:spPr>
          <a:xfrm>
            <a:off x="1051560" y="551383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17324D"/>
                </a:solidFill>
              </a:rPr>
              <a:t>Conclusão: a Pipeline 1 apresentou o melhor resultado final nas 3 imagens; a ordem das operações foi decisiva.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Apêndice · validações funcionais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Material de apoio para perguntas técnicas; não substituir PSNR/SSIM na análise final.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8191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Ruído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1947672"/>
            <a:ext cx="30266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F2937"/>
                </a:solidFill>
              </a:rPr>
              <a:t>σ = 15 e semente fixa reproduzem exatamente o mesmo ruído.</a:t>
            </a:r>
            <a:endParaRPr lang="en-US" sz="1150" dirty="0"/>
          </a:p>
          <a:p>
            <a:endParaRPr lang="en-US" sz="1150" dirty="0"/>
          </a:p>
          <a:p>
            <a:r>
              <a:rPr sz="1200">
                <a:solidFill>
                  <a:srgbClr val="1F2937"/>
                </a:solidFill>
              </a:rPr>
              <a:t>σ = 0 preserva a imagem; σ negativo é rejeitado.</a:t>
            </a:r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8191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Suavização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90288" y="1947672"/>
            <a:ext cx="30266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F2937"/>
                </a:solidFill>
              </a:rPr>
              <a:t>Imagem uniforme 128 permanece 128 com Gaussiano e mediana.</a:t>
            </a:r>
            <a:endParaRPr lang="en-US" sz="1150" dirty="0"/>
          </a:p>
          <a:p>
            <a:endParaRPr lang="en-US" sz="1150" dirty="0"/>
          </a:p>
          <a:p>
            <a:r>
              <a:rPr sz="1200">
                <a:solidFill>
                  <a:srgbClr val="1F2937"/>
                </a:solidFill>
              </a:rPr>
              <a:t>Kernel 5×5 soma 1 e o padding edge não cria moldura artificial.</a:t>
            </a:r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58191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Integração com aguçamento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93608" y="1947672"/>
            <a:ext cx="30266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F2937"/>
                </a:solidFill>
              </a:rPr>
              <a:t>Sobel em imagem uniforme retorna 0; em uma transição vertical detecta a borda.</a:t>
            </a:r>
            <a:endParaRPr lang="en-US" sz="1150" dirty="0"/>
          </a:p>
          <a:p>
            <a:endParaRPr lang="en-US" sz="1150" dirty="0"/>
          </a:p>
          <a:p>
            <a:r>
              <a:rPr sz="1200">
                <a:solidFill>
                  <a:srgbClr val="1F2937"/>
                </a:solidFill>
              </a:rPr>
              <a:t>Laplaciano e High-Boost preservam regiões uniformes.</a:t>
            </a:r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103327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1F2937"/>
                </a:solidFill>
              </a:rPr>
              <a:t>Essas checagens validaram comportamento e integração durante o desenvolvimento. A comparação oficial permanece PSNR + SSIM.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86200" y="5047488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13212E"/>
          </a:solidFill>
          <a:ln w="12700">
            <a:solidFill>
              <a:srgbClr val="1321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5193792"/>
            <a:ext cx="4151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saida.shape == original.shape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saida.dtype == np.uint8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9672"/>
            <a:ext cx="34747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none" lIns="0" rIns="0" tIns="0" bIns="0">
            <a:noAutofit/>
          </a:bodyPr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00">
                <a:solidFill>
                  <a:srgbClr val="66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M1 – Operações Pontuais e Filtragem Espacial</dc:title>
  <dc:subject>Projeto M1 – Operações Pontuais e Filtragem Espacial</dc:subject>
  <dc:creator>Heloisa Born, Gustavo Mello, João Paulo Jorge</dc:creator>
  <cp:lastModifiedBy>Heloisa Born, Gustavo Mello, João Paulo Jorge</cp:lastModifiedBy>
  <cp:revision>42</cp:revision>
  <dcterms:created xsi:type="dcterms:W3CDTF">2026-09-26T23:01:45Z</dcterms:created>
  <dcterms:modified xsi:type="dcterms:W3CDTF">2026-09-28T19:28:54Z</dcterms:modified>
</cp:coreProperties>
</file>